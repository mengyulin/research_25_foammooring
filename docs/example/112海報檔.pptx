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4"/>
  </p:sldMasterIdLst>
  <p:notesMasterIdLst>
    <p:notesMasterId r:id="rId6"/>
  </p:notesMasterIdLst>
  <p:sldIdLst>
    <p:sldId id="258" r:id="rId5"/>
  </p:sldIdLst>
  <p:sldSz cx="30240288" cy="427672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03" autoAdjust="0"/>
    <p:restoredTop sz="95387" autoAdjust="0"/>
  </p:normalViewPr>
  <p:slideViewPr>
    <p:cSldViewPr snapToGrid="0">
      <p:cViewPr>
        <p:scale>
          <a:sx n="33" d="100"/>
          <a:sy n="33" d="100"/>
        </p:scale>
        <p:origin x="1656" y="24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9BB725-1986-4BB2-8C63-AAF2BC46D1C0}" type="datetimeFigureOut">
              <a:rPr lang="zh-TW" altLang="en-US" smtClean="0"/>
              <a:t>2024/1/5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48439-FE37-477E-A836-D2975A82C1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7301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48439-FE37-477E-A836-D2975A82C18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3681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8022" y="6999180"/>
            <a:ext cx="25704245" cy="14889339"/>
          </a:xfrm>
        </p:spPr>
        <p:txBody>
          <a:bodyPr anchor="b"/>
          <a:lstStyle>
            <a:lvl1pPr algn="ctr">
              <a:defRPr sz="19843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0036" y="22462709"/>
            <a:ext cx="22680216" cy="10325516"/>
          </a:xfrm>
        </p:spPr>
        <p:txBody>
          <a:bodyPr/>
          <a:lstStyle>
            <a:lvl1pPr marL="0" indent="0" algn="ctr">
              <a:buNone/>
              <a:defRPr sz="7937"/>
            </a:lvl1pPr>
            <a:lvl2pPr marL="1512006" indent="0" algn="ctr">
              <a:buNone/>
              <a:defRPr sz="6614"/>
            </a:lvl2pPr>
            <a:lvl3pPr marL="3024012" indent="0" algn="ctr">
              <a:buNone/>
              <a:defRPr sz="5953"/>
            </a:lvl3pPr>
            <a:lvl4pPr marL="4536018" indent="0" algn="ctr">
              <a:buNone/>
              <a:defRPr sz="5291"/>
            </a:lvl4pPr>
            <a:lvl5pPr marL="6048024" indent="0" algn="ctr">
              <a:buNone/>
              <a:defRPr sz="5291"/>
            </a:lvl5pPr>
            <a:lvl6pPr marL="7560031" indent="0" algn="ctr">
              <a:buNone/>
              <a:defRPr sz="5291"/>
            </a:lvl6pPr>
            <a:lvl7pPr marL="9072037" indent="0" algn="ctr">
              <a:buNone/>
              <a:defRPr sz="5291"/>
            </a:lvl7pPr>
            <a:lvl8pPr marL="10584043" indent="0" algn="ctr">
              <a:buNone/>
              <a:defRPr sz="5291"/>
            </a:lvl8pPr>
            <a:lvl9pPr marL="12096049" indent="0" algn="ctr">
              <a:buNone/>
              <a:defRPr sz="5291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9FC3-014E-4CF3-8B42-C9D121DFF5AC}" type="datetimeFigureOut">
              <a:rPr lang="zh-HK" altLang="en-US" smtClean="0"/>
              <a:t>5/1/2024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0C8D-95D1-40FC-84CE-0FAA8B243C5B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99149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9FC3-014E-4CF3-8B42-C9D121DFF5AC}" type="datetimeFigureOut">
              <a:rPr lang="zh-HK" altLang="en-US" smtClean="0"/>
              <a:t>5/1/2024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0C8D-95D1-40FC-84CE-0FAA8B243C5B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69032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272" y="10662125"/>
            <a:ext cx="26082248" cy="17789985"/>
          </a:xfrm>
        </p:spPr>
        <p:txBody>
          <a:bodyPr anchor="b"/>
          <a:lstStyle>
            <a:lvl1pPr>
              <a:defRPr sz="19843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3272" y="28620410"/>
            <a:ext cx="26082248" cy="9355333"/>
          </a:xfrm>
        </p:spPr>
        <p:txBody>
          <a:bodyPr/>
          <a:lstStyle>
            <a:lvl1pPr marL="0" indent="0">
              <a:buNone/>
              <a:defRPr sz="7937">
                <a:solidFill>
                  <a:schemeClr val="tx1"/>
                </a:solidFill>
              </a:defRPr>
            </a:lvl1pPr>
            <a:lvl2pPr marL="1512006" indent="0">
              <a:buNone/>
              <a:defRPr sz="6614">
                <a:solidFill>
                  <a:schemeClr val="tx1">
                    <a:tint val="75000"/>
                  </a:schemeClr>
                </a:solidFill>
              </a:defRPr>
            </a:lvl2pPr>
            <a:lvl3pPr marL="3024012" indent="0">
              <a:buNone/>
              <a:defRPr sz="5953">
                <a:solidFill>
                  <a:schemeClr val="tx1">
                    <a:tint val="75000"/>
                  </a:schemeClr>
                </a:solidFill>
              </a:defRPr>
            </a:lvl3pPr>
            <a:lvl4pPr marL="4536018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4pPr>
            <a:lvl5pPr marL="6048024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5pPr>
            <a:lvl6pPr marL="7560031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6pPr>
            <a:lvl7pPr marL="9072037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7pPr>
            <a:lvl8pPr marL="10584043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8pPr>
            <a:lvl9pPr marL="12096049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9FC3-014E-4CF3-8B42-C9D121DFF5AC}" type="datetimeFigureOut">
              <a:rPr lang="zh-HK" altLang="en-US" smtClean="0"/>
              <a:t>5/1/2024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0C8D-95D1-40FC-84CE-0FAA8B243C5B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53558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9020" y="11384800"/>
            <a:ext cx="12852122" cy="2713542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09146" y="11384800"/>
            <a:ext cx="12852122" cy="2713542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9FC3-014E-4CF3-8B42-C9D121DFF5AC}" type="datetimeFigureOut">
              <a:rPr lang="zh-HK" altLang="en-US" smtClean="0"/>
              <a:t>5/1/2024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0C8D-95D1-40FC-84CE-0FAA8B243C5B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67628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276970"/>
            <a:ext cx="26082248" cy="826635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2962" y="10483919"/>
            <a:ext cx="12793057" cy="5138007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2962" y="15621926"/>
            <a:ext cx="12793057" cy="229775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09148" y="10483919"/>
            <a:ext cx="12856061" cy="5138007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09148" y="15621926"/>
            <a:ext cx="12856061" cy="229775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9FC3-014E-4CF3-8B42-C9D121DFF5AC}" type="datetimeFigureOut">
              <a:rPr lang="zh-HK" altLang="en-US" smtClean="0"/>
              <a:t>5/1/2024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0C8D-95D1-40FC-84CE-0FAA8B243C5B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90630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9FC3-014E-4CF3-8B42-C9D121DFF5AC}" type="datetimeFigureOut">
              <a:rPr lang="zh-HK" altLang="en-US" smtClean="0"/>
              <a:t>5/1/2024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0C8D-95D1-40FC-84CE-0FAA8B243C5B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554666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9FC3-014E-4CF3-8B42-C9D121DFF5AC}" type="datetimeFigureOut">
              <a:rPr lang="zh-HK" altLang="en-US" smtClean="0"/>
              <a:t>5/1/2024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0C8D-95D1-40FC-84CE-0FAA8B243C5B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958966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851150"/>
            <a:ext cx="9753280" cy="9979025"/>
          </a:xfrm>
        </p:spPr>
        <p:txBody>
          <a:bodyPr anchor="b"/>
          <a:lstStyle>
            <a:lvl1pPr>
              <a:defRPr sz="10583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6061" y="6157701"/>
            <a:ext cx="15309146" cy="30392467"/>
          </a:xfrm>
        </p:spPr>
        <p:txBody>
          <a:bodyPr/>
          <a:lstStyle>
            <a:lvl1pPr>
              <a:defRPr sz="10583"/>
            </a:lvl1pPr>
            <a:lvl2pPr>
              <a:defRPr sz="9260"/>
            </a:lvl2pPr>
            <a:lvl3pPr>
              <a:defRPr sz="7937"/>
            </a:lvl3pPr>
            <a:lvl4pPr>
              <a:defRPr sz="6614"/>
            </a:lvl4pPr>
            <a:lvl5pPr>
              <a:defRPr sz="6614"/>
            </a:lvl5pPr>
            <a:lvl6pPr>
              <a:defRPr sz="6614"/>
            </a:lvl6pPr>
            <a:lvl7pPr>
              <a:defRPr sz="6614"/>
            </a:lvl7pPr>
            <a:lvl8pPr>
              <a:defRPr sz="6614"/>
            </a:lvl8pPr>
            <a:lvl9pPr>
              <a:defRPr sz="6614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2830175"/>
            <a:ext cx="9753280" cy="23769486"/>
          </a:xfrm>
        </p:spPr>
        <p:txBody>
          <a:bodyPr/>
          <a:lstStyle>
            <a:lvl1pPr marL="0" indent="0">
              <a:buNone/>
              <a:defRPr sz="5291"/>
            </a:lvl1pPr>
            <a:lvl2pPr marL="1512006" indent="0">
              <a:buNone/>
              <a:defRPr sz="4630"/>
            </a:lvl2pPr>
            <a:lvl3pPr marL="3024012" indent="0">
              <a:buNone/>
              <a:defRPr sz="3969"/>
            </a:lvl3pPr>
            <a:lvl4pPr marL="4536018" indent="0">
              <a:buNone/>
              <a:defRPr sz="3307"/>
            </a:lvl4pPr>
            <a:lvl5pPr marL="6048024" indent="0">
              <a:buNone/>
              <a:defRPr sz="3307"/>
            </a:lvl5pPr>
            <a:lvl6pPr marL="7560031" indent="0">
              <a:buNone/>
              <a:defRPr sz="3307"/>
            </a:lvl6pPr>
            <a:lvl7pPr marL="9072037" indent="0">
              <a:buNone/>
              <a:defRPr sz="3307"/>
            </a:lvl7pPr>
            <a:lvl8pPr marL="10584043" indent="0">
              <a:buNone/>
              <a:defRPr sz="3307"/>
            </a:lvl8pPr>
            <a:lvl9pPr marL="12096049" indent="0">
              <a:buNone/>
              <a:defRPr sz="330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9FC3-014E-4CF3-8B42-C9D121DFF5AC}" type="datetimeFigureOut">
              <a:rPr lang="zh-HK" altLang="en-US" smtClean="0"/>
              <a:t>5/1/2024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0C8D-95D1-40FC-84CE-0FAA8B243C5B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62074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851150"/>
            <a:ext cx="9753280" cy="9979025"/>
          </a:xfrm>
        </p:spPr>
        <p:txBody>
          <a:bodyPr anchor="b"/>
          <a:lstStyle>
            <a:lvl1pPr>
              <a:defRPr sz="10583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56061" y="6157701"/>
            <a:ext cx="15309146" cy="30392467"/>
          </a:xfrm>
        </p:spPr>
        <p:txBody>
          <a:bodyPr anchor="t"/>
          <a:lstStyle>
            <a:lvl1pPr marL="0" indent="0">
              <a:buNone/>
              <a:defRPr sz="10583"/>
            </a:lvl1pPr>
            <a:lvl2pPr marL="1512006" indent="0">
              <a:buNone/>
              <a:defRPr sz="9260"/>
            </a:lvl2pPr>
            <a:lvl3pPr marL="3024012" indent="0">
              <a:buNone/>
              <a:defRPr sz="7937"/>
            </a:lvl3pPr>
            <a:lvl4pPr marL="4536018" indent="0">
              <a:buNone/>
              <a:defRPr sz="6614"/>
            </a:lvl4pPr>
            <a:lvl5pPr marL="6048024" indent="0">
              <a:buNone/>
              <a:defRPr sz="6614"/>
            </a:lvl5pPr>
            <a:lvl6pPr marL="7560031" indent="0">
              <a:buNone/>
              <a:defRPr sz="6614"/>
            </a:lvl6pPr>
            <a:lvl7pPr marL="9072037" indent="0">
              <a:buNone/>
              <a:defRPr sz="6614"/>
            </a:lvl7pPr>
            <a:lvl8pPr marL="10584043" indent="0">
              <a:buNone/>
              <a:defRPr sz="6614"/>
            </a:lvl8pPr>
            <a:lvl9pPr marL="12096049" indent="0">
              <a:buNone/>
              <a:defRPr sz="6614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2830175"/>
            <a:ext cx="9753280" cy="23769486"/>
          </a:xfrm>
        </p:spPr>
        <p:txBody>
          <a:bodyPr/>
          <a:lstStyle>
            <a:lvl1pPr marL="0" indent="0">
              <a:buNone/>
              <a:defRPr sz="5291"/>
            </a:lvl1pPr>
            <a:lvl2pPr marL="1512006" indent="0">
              <a:buNone/>
              <a:defRPr sz="4630"/>
            </a:lvl2pPr>
            <a:lvl3pPr marL="3024012" indent="0">
              <a:buNone/>
              <a:defRPr sz="3969"/>
            </a:lvl3pPr>
            <a:lvl4pPr marL="4536018" indent="0">
              <a:buNone/>
              <a:defRPr sz="3307"/>
            </a:lvl4pPr>
            <a:lvl5pPr marL="6048024" indent="0">
              <a:buNone/>
              <a:defRPr sz="3307"/>
            </a:lvl5pPr>
            <a:lvl6pPr marL="7560031" indent="0">
              <a:buNone/>
              <a:defRPr sz="3307"/>
            </a:lvl6pPr>
            <a:lvl7pPr marL="9072037" indent="0">
              <a:buNone/>
              <a:defRPr sz="3307"/>
            </a:lvl7pPr>
            <a:lvl8pPr marL="10584043" indent="0">
              <a:buNone/>
              <a:defRPr sz="3307"/>
            </a:lvl8pPr>
            <a:lvl9pPr marL="12096049" indent="0">
              <a:buNone/>
              <a:defRPr sz="330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9FC3-014E-4CF3-8B42-C9D121DFF5AC}" type="datetimeFigureOut">
              <a:rPr lang="zh-HK" altLang="en-US" smtClean="0"/>
              <a:t>5/1/2024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0C8D-95D1-40FC-84CE-0FAA8B243C5B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52705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9FC3-014E-4CF3-8B42-C9D121DFF5AC}" type="datetimeFigureOut">
              <a:rPr lang="zh-HK" altLang="en-US" smtClean="0"/>
              <a:t>5/1/2024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0C8D-95D1-40FC-84CE-0FAA8B243C5B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565110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40708" y="2276960"/>
            <a:ext cx="6520562" cy="3624326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9021" y="2276960"/>
            <a:ext cx="19183683" cy="3624326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9FC3-014E-4CF3-8B42-C9D121DFF5AC}" type="datetimeFigureOut">
              <a:rPr lang="zh-HK" altLang="en-US" smtClean="0"/>
              <a:t>5/1/2024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0C8D-95D1-40FC-84CE-0FAA8B243C5B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42047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9020" y="2276970"/>
            <a:ext cx="26082248" cy="8266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9020" y="11384800"/>
            <a:ext cx="26082248" cy="27135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9020" y="39638914"/>
            <a:ext cx="6804065" cy="22769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69FC3-014E-4CF3-8B42-C9D121DFF5AC}" type="datetimeFigureOut">
              <a:rPr lang="zh-HK" altLang="en-US" smtClean="0"/>
              <a:t>5/1/2024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17096" y="39638914"/>
            <a:ext cx="10206097" cy="22769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57203" y="39638914"/>
            <a:ext cx="6804065" cy="22769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A0C8D-95D1-40FC-84CE-0FAA8B243C5B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635508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3024012" rtl="0" eaLnBrk="1" latinLnBrk="0" hangingPunct="1">
        <a:lnSpc>
          <a:spcPct val="90000"/>
        </a:lnSpc>
        <a:spcBef>
          <a:spcPct val="0"/>
        </a:spcBef>
        <a:buNone/>
        <a:defRPr sz="145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003" indent="-756003" algn="l" defTabSz="3024012" rtl="0" eaLnBrk="1" latinLnBrk="0" hangingPunct="1">
        <a:lnSpc>
          <a:spcPct val="90000"/>
        </a:lnSpc>
        <a:spcBef>
          <a:spcPts val="3307"/>
        </a:spcBef>
        <a:buFont typeface="Arial" panose="020B0604020202020204" pitchFamily="34" charset="0"/>
        <a:buChar char="•"/>
        <a:defRPr sz="9260" kern="1200">
          <a:solidFill>
            <a:schemeClr val="tx1"/>
          </a:solidFill>
          <a:latin typeface="+mn-lt"/>
          <a:ea typeface="+mn-ea"/>
          <a:cs typeface="+mn-cs"/>
        </a:defRPr>
      </a:lvl1pPr>
      <a:lvl2pPr marL="2268009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7937" kern="1200">
          <a:solidFill>
            <a:schemeClr val="tx1"/>
          </a:solidFill>
          <a:latin typeface="+mn-lt"/>
          <a:ea typeface="+mn-ea"/>
          <a:cs typeface="+mn-cs"/>
        </a:defRPr>
      </a:lvl2pPr>
      <a:lvl3pPr marL="3780015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292021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804028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8316034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828040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1340046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852052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1pPr>
      <a:lvl2pPr marL="1512006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2pPr>
      <a:lvl3pPr marL="3024012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3pPr>
      <a:lvl4pPr marL="4536018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048024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7560031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072037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0584043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096049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jpe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41" Type="http://schemas.openxmlformats.org/officeDocument/2006/relationships/image" Target="../media/image3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C98883B5-52F5-31AF-DDE8-0F0E188FA684}"/>
              </a:ext>
            </a:extLst>
          </p:cNvPr>
          <p:cNvSpPr/>
          <p:nvPr/>
        </p:nvSpPr>
        <p:spPr>
          <a:xfrm>
            <a:off x="-1" y="8857"/>
            <a:ext cx="30240288" cy="3657600"/>
          </a:xfrm>
          <a:prstGeom prst="rect">
            <a:avLst/>
          </a:prstGeom>
          <a:solidFill>
            <a:schemeClr val="bg2">
              <a:lumMod val="25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2800"/>
          </a:p>
          <a:p>
            <a:pPr algn="ctr"/>
            <a:endParaRPr lang="en-US" altLang="zh-TW" sz="2800"/>
          </a:p>
          <a:p>
            <a:pPr algn="ctr"/>
            <a:endParaRPr lang="en-US" altLang="zh-TW" sz="2800"/>
          </a:p>
          <a:p>
            <a:pPr algn="ctr"/>
            <a:endParaRPr lang="en-US" altLang="zh-TW" sz="2800"/>
          </a:p>
          <a:p>
            <a:pPr algn="ctr"/>
            <a:endParaRPr lang="en-US" altLang="zh-TW" sz="2800"/>
          </a:p>
          <a:p>
            <a:pPr algn="ctr"/>
            <a:endParaRPr lang="en-US" altLang="zh-TW" sz="2800"/>
          </a:p>
        </p:txBody>
      </p:sp>
      <p:grpSp>
        <p:nvGrpSpPr>
          <p:cNvPr id="1089" name="群組 1088">
            <a:extLst>
              <a:ext uri="{FF2B5EF4-FFF2-40B4-BE49-F238E27FC236}">
                <a16:creationId xmlns:a16="http://schemas.microsoft.com/office/drawing/2014/main" id="{14FE0CD3-68AF-78A5-B6E5-1592BAA09DF0}"/>
              </a:ext>
            </a:extLst>
          </p:cNvPr>
          <p:cNvGrpSpPr/>
          <p:nvPr/>
        </p:nvGrpSpPr>
        <p:grpSpPr>
          <a:xfrm>
            <a:off x="1783429" y="345147"/>
            <a:ext cx="26673425" cy="2165489"/>
            <a:chOff x="1783429" y="345147"/>
            <a:chExt cx="26673425" cy="2165489"/>
          </a:xfrm>
        </p:grpSpPr>
        <p:grpSp>
          <p:nvGrpSpPr>
            <p:cNvPr id="186" name="群組 185">
              <a:extLst>
                <a:ext uri="{FF2B5EF4-FFF2-40B4-BE49-F238E27FC236}">
                  <a16:creationId xmlns:a16="http://schemas.microsoft.com/office/drawing/2014/main" id="{18D45963-FD9E-A386-4E3E-F4F027419840}"/>
                </a:ext>
              </a:extLst>
            </p:cNvPr>
            <p:cNvGrpSpPr/>
            <p:nvPr/>
          </p:nvGrpSpPr>
          <p:grpSpPr>
            <a:xfrm>
              <a:off x="1783429" y="345147"/>
              <a:ext cx="26673425" cy="2165489"/>
              <a:chOff x="1665287" y="440656"/>
              <a:chExt cx="26673425" cy="2165489"/>
            </a:xfrm>
          </p:grpSpPr>
          <p:sp>
            <p:nvSpPr>
              <p:cNvPr id="183" name="橢圓 182">
                <a:extLst>
                  <a:ext uri="{FF2B5EF4-FFF2-40B4-BE49-F238E27FC236}">
                    <a16:creationId xmlns:a16="http://schemas.microsoft.com/office/drawing/2014/main" id="{32025F49-4E41-AC5B-4FC3-5550DC3749EA}"/>
                  </a:ext>
                </a:extLst>
              </p:cNvPr>
              <p:cNvSpPr/>
              <p:nvPr/>
            </p:nvSpPr>
            <p:spPr>
              <a:xfrm>
                <a:off x="1665287" y="440656"/>
                <a:ext cx="2160000" cy="2160000"/>
              </a:xfrm>
              <a:prstGeom prst="ellipse">
                <a:avLst/>
              </a:prstGeom>
              <a:solidFill>
                <a:schemeClr val="bg1"/>
              </a:solidFill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4" name="橢圓 183">
                <a:extLst>
                  <a:ext uri="{FF2B5EF4-FFF2-40B4-BE49-F238E27FC236}">
                    <a16:creationId xmlns:a16="http://schemas.microsoft.com/office/drawing/2014/main" id="{BCFF60D1-1021-07C0-C0DE-A13CD643D484}"/>
                  </a:ext>
                </a:extLst>
              </p:cNvPr>
              <p:cNvSpPr/>
              <p:nvPr/>
            </p:nvSpPr>
            <p:spPr>
              <a:xfrm>
                <a:off x="26178712" y="446145"/>
                <a:ext cx="2160000" cy="2160000"/>
              </a:xfrm>
              <a:prstGeom prst="ellipse">
                <a:avLst/>
              </a:prstGeom>
              <a:solidFill>
                <a:schemeClr val="bg1"/>
              </a:solidFill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5" name="矩形 184">
                <a:extLst>
                  <a:ext uri="{FF2B5EF4-FFF2-40B4-BE49-F238E27FC236}">
                    <a16:creationId xmlns:a16="http://schemas.microsoft.com/office/drawing/2014/main" id="{FA59731E-9F29-61DF-B51B-B8C6AC75E963}"/>
                  </a:ext>
                </a:extLst>
              </p:cNvPr>
              <p:cNvSpPr/>
              <p:nvPr/>
            </p:nvSpPr>
            <p:spPr>
              <a:xfrm>
                <a:off x="2745287" y="444968"/>
                <a:ext cx="24513424" cy="2160000"/>
              </a:xfrm>
              <a:prstGeom prst="rect">
                <a:avLst/>
              </a:prstGeom>
              <a:solidFill>
                <a:schemeClr val="bg1"/>
              </a:solidFill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15F2264C-A8AF-71D6-E4DA-C3585A36BF16}"/>
                </a:ext>
              </a:extLst>
            </p:cNvPr>
            <p:cNvSpPr/>
            <p:nvPr/>
          </p:nvSpPr>
          <p:spPr>
            <a:xfrm>
              <a:off x="27336750" y="390525"/>
              <a:ext cx="80963" cy="20771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0" name="橢圓 189">
              <a:extLst>
                <a:ext uri="{FF2B5EF4-FFF2-40B4-BE49-F238E27FC236}">
                  <a16:creationId xmlns:a16="http://schemas.microsoft.com/office/drawing/2014/main" id="{C349A7F7-5A8F-DD73-0A46-368996095DB4}"/>
                </a:ext>
              </a:extLst>
            </p:cNvPr>
            <p:cNvSpPr/>
            <p:nvPr/>
          </p:nvSpPr>
          <p:spPr>
            <a:xfrm>
              <a:off x="27228025" y="384487"/>
              <a:ext cx="297656" cy="13837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1" name="橢圓 190">
              <a:extLst>
                <a:ext uri="{FF2B5EF4-FFF2-40B4-BE49-F238E27FC236}">
                  <a16:creationId xmlns:a16="http://schemas.microsoft.com/office/drawing/2014/main" id="{79251EA7-D370-9883-CEF5-9C93D9A73756}"/>
                </a:ext>
              </a:extLst>
            </p:cNvPr>
            <p:cNvSpPr/>
            <p:nvPr/>
          </p:nvSpPr>
          <p:spPr>
            <a:xfrm>
              <a:off x="27277825" y="2334671"/>
              <a:ext cx="239900" cy="13837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88" name="橢圓 1087">
              <a:extLst>
                <a:ext uri="{FF2B5EF4-FFF2-40B4-BE49-F238E27FC236}">
                  <a16:creationId xmlns:a16="http://schemas.microsoft.com/office/drawing/2014/main" id="{78F99552-966A-5DF9-E31F-888BCED5B94B}"/>
                </a:ext>
              </a:extLst>
            </p:cNvPr>
            <p:cNvSpPr/>
            <p:nvPr/>
          </p:nvSpPr>
          <p:spPr>
            <a:xfrm>
              <a:off x="27225436" y="2335701"/>
              <a:ext cx="239900" cy="13837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AEBAEED4-B2D4-4FB5-B896-F90EBE2E224C}"/>
              </a:ext>
            </a:extLst>
          </p:cNvPr>
          <p:cNvSpPr/>
          <p:nvPr/>
        </p:nvSpPr>
        <p:spPr>
          <a:xfrm>
            <a:off x="1268370" y="23724002"/>
            <a:ext cx="28522911" cy="1136395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流程圖: 換頁接點 1038">
            <a:extLst>
              <a:ext uri="{FF2B5EF4-FFF2-40B4-BE49-F238E27FC236}">
                <a16:creationId xmlns:a16="http://schemas.microsoft.com/office/drawing/2014/main" id="{056296C7-C346-0E94-5FBC-AE7A438C1C2D}"/>
              </a:ext>
            </a:extLst>
          </p:cNvPr>
          <p:cNvSpPr/>
          <p:nvPr/>
        </p:nvSpPr>
        <p:spPr>
          <a:xfrm rot="16200000">
            <a:off x="-4690597" y="28863603"/>
            <a:ext cx="11363954" cy="1084746"/>
          </a:xfrm>
          <a:prstGeom prst="flowChartOffpageConnector">
            <a:avLst/>
          </a:prstGeom>
          <a:solidFill>
            <a:schemeClr val="tx2">
              <a:lumMod val="75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CD505058-3784-E43C-0484-CB4C0FE7DD84}"/>
              </a:ext>
            </a:extLst>
          </p:cNvPr>
          <p:cNvSpPr txBox="1"/>
          <p:nvPr/>
        </p:nvSpPr>
        <p:spPr>
          <a:xfrm>
            <a:off x="591988" y="28132706"/>
            <a:ext cx="722929" cy="25718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4000" b="1">
                <a:solidFill>
                  <a:schemeClr val="bg1"/>
                </a:solidFill>
                <a:latin typeface="Microsoft JhengHei"/>
                <a:ea typeface="Microsoft JhengHei"/>
                <a:cs typeface="Calibri"/>
              </a:rPr>
              <a:t>數據結果</a:t>
            </a: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B8C6B9D7-33F0-8E31-D0BF-FC37A78DACA3}"/>
              </a:ext>
            </a:extLst>
          </p:cNvPr>
          <p:cNvCxnSpPr>
            <a:cxnSpLocks/>
          </p:cNvCxnSpPr>
          <p:nvPr/>
        </p:nvCxnSpPr>
        <p:spPr>
          <a:xfrm>
            <a:off x="1314915" y="27521327"/>
            <a:ext cx="22868535" cy="26954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DFDCE250-7F4E-CA50-8980-E8887898DF05}"/>
              </a:ext>
            </a:extLst>
          </p:cNvPr>
          <p:cNvCxnSpPr>
            <a:cxnSpLocks/>
          </p:cNvCxnSpPr>
          <p:nvPr/>
        </p:nvCxnSpPr>
        <p:spPr>
          <a:xfrm>
            <a:off x="1314915" y="31289251"/>
            <a:ext cx="22868535" cy="0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C291CCD3-B099-2CC0-9F95-22B3DB286C5E}"/>
              </a:ext>
            </a:extLst>
          </p:cNvPr>
          <p:cNvCxnSpPr>
            <a:cxnSpLocks/>
          </p:cNvCxnSpPr>
          <p:nvPr/>
        </p:nvCxnSpPr>
        <p:spPr>
          <a:xfrm>
            <a:off x="24183451" y="23724002"/>
            <a:ext cx="0" cy="11363953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DB6E1DA5-4F0D-B6B3-69B2-E629A2D108F4}"/>
              </a:ext>
            </a:extLst>
          </p:cNvPr>
          <p:cNvGrpSpPr/>
          <p:nvPr/>
        </p:nvGrpSpPr>
        <p:grpSpPr>
          <a:xfrm>
            <a:off x="15667495" y="4009444"/>
            <a:ext cx="14114499" cy="5300629"/>
            <a:chOff x="15902913" y="4170932"/>
            <a:chExt cx="13770537" cy="5400003"/>
          </a:xfrm>
        </p:grpSpPr>
        <p:sp>
          <p:nvSpPr>
            <p:cNvPr id="1060" name="矩形: 圓角 1059">
              <a:extLst>
                <a:ext uri="{FF2B5EF4-FFF2-40B4-BE49-F238E27FC236}">
                  <a16:creationId xmlns:a16="http://schemas.microsoft.com/office/drawing/2014/main" id="{11F6FA2E-80E6-A12B-F58D-5E8CFEADF018}"/>
                </a:ext>
              </a:extLst>
            </p:cNvPr>
            <p:cNvSpPr/>
            <p:nvPr/>
          </p:nvSpPr>
          <p:spPr>
            <a:xfrm>
              <a:off x="16676794" y="4170935"/>
              <a:ext cx="12996656" cy="540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TW" altLang="en-US" sz="2800" b="0" i="0">
                <a:solidFill>
                  <a:srgbClr val="202124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endParaRPr lang="en-US" altLang="zh-HK" sz="2800">
                <a:solidFill>
                  <a:srgbClr val="202124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endParaRPr lang="en-US" altLang="zh-HK" sz="2800">
                <a:solidFill>
                  <a:srgbClr val="202124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endParaRPr lang="en-US" altLang="zh-HK" sz="2800">
                <a:solidFill>
                  <a:srgbClr val="202124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endParaRPr lang="en-US" altLang="zh-HK" sz="2800">
                <a:solidFill>
                  <a:srgbClr val="202124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endParaRPr lang="en-US" altLang="zh-HK" sz="2800">
                <a:solidFill>
                  <a:srgbClr val="202124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endParaRPr lang="zh-HK" altLang="en-US" sz="28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5" name="Flowchart: Off-page Connector 4">
              <a:extLst>
                <a:ext uri="{FF2B5EF4-FFF2-40B4-BE49-F238E27FC236}">
                  <a16:creationId xmlns:a16="http://schemas.microsoft.com/office/drawing/2014/main" id="{046FC18A-6866-538F-5702-54ED5C711ADB}"/>
                </a:ext>
              </a:extLst>
            </p:cNvPr>
            <p:cNvSpPr/>
            <p:nvPr/>
          </p:nvSpPr>
          <p:spPr>
            <a:xfrm rot="16200000">
              <a:off x="13787774" y="6286071"/>
              <a:ext cx="5399999" cy="1169721"/>
            </a:xfrm>
            <a:prstGeom prst="flowChartOffpageConnector">
              <a:avLst/>
            </a:prstGeom>
            <a:solidFill>
              <a:schemeClr val="tx2">
                <a:lumMod val="75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7D8FE7B4-2156-D175-4D38-402280F67FB9}"/>
              </a:ext>
            </a:extLst>
          </p:cNvPr>
          <p:cNvGrpSpPr/>
          <p:nvPr/>
        </p:nvGrpSpPr>
        <p:grpSpPr>
          <a:xfrm>
            <a:off x="437993" y="12015927"/>
            <a:ext cx="14856181" cy="3368904"/>
            <a:chOff x="458223" y="12203847"/>
            <a:chExt cx="14856181" cy="3240000"/>
          </a:xfrm>
        </p:grpSpPr>
        <p:sp>
          <p:nvSpPr>
            <p:cNvPr id="61" name="矩形: 圓角 14">
              <a:extLst>
                <a:ext uri="{FF2B5EF4-FFF2-40B4-BE49-F238E27FC236}">
                  <a16:creationId xmlns:a16="http://schemas.microsoft.com/office/drawing/2014/main" id="{631606AB-3ABD-5E30-F5CB-F7555A4B38A4}"/>
                </a:ext>
              </a:extLst>
            </p:cNvPr>
            <p:cNvSpPr>
              <a:spLocks/>
            </p:cNvSpPr>
            <p:nvPr/>
          </p:nvSpPr>
          <p:spPr>
            <a:xfrm>
              <a:off x="1274404" y="12203847"/>
              <a:ext cx="14040000" cy="3240000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zh-TW" altLang="en-US" sz="2800">
                <a:solidFill>
                  <a:schemeClr val="tx1"/>
                </a:solidFill>
                <a:latin typeface="Microsoft JhengHei"/>
                <a:ea typeface="Microsoft JhengHei"/>
              </a:endParaRPr>
            </a:p>
            <a:p>
              <a:endParaRPr lang="zh-TW" altLang="en-US" sz="2800">
                <a:solidFill>
                  <a:schemeClr val="tx1"/>
                </a:solidFill>
                <a:latin typeface="Microsoft JhengHei"/>
                <a:ea typeface="Microsoft JhengHei"/>
                <a:cs typeface="Calibri"/>
              </a:endParaRPr>
            </a:p>
          </p:txBody>
        </p:sp>
        <p:sp>
          <p:nvSpPr>
            <p:cNvPr id="1024" name="流程圖: 換頁接點 1038">
              <a:extLst>
                <a:ext uri="{FF2B5EF4-FFF2-40B4-BE49-F238E27FC236}">
                  <a16:creationId xmlns:a16="http://schemas.microsoft.com/office/drawing/2014/main" id="{4F254547-5543-2E65-7C6A-657107C35A35}"/>
                </a:ext>
              </a:extLst>
            </p:cNvPr>
            <p:cNvSpPr>
              <a:spLocks/>
            </p:cNvSpPr>
            <p:nvPr/>
          </p:nvSpPr>
          <p:spPr>
            <a:xfrm rot="16200000">
              <a:off x="-611314" y="13273384"/>
              <a:ext cx="3240000" cy="1100925"/>
            </a:xfrm>
            <a:prstGeom prst="flowChartOffpageConnector">
              <a:avLst/>
            </a:prstGeom>
            <a:solidFill>
              <a:schemeClr val="tx2">
                <a:lumMod val="75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/>
            </a:p>
          </p:txBody>
        </p:sp>
      </p:grp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B62FDE22-9C11-475B-F566-6C70E4B10BFD}"/>
              </a:ext>
            </a:extLst>
          </p:cNvPr>
          <p:cNvGrpSpPr/>
          <p:nvPr/>
        </p:nvGrpSpPr>
        <p:grpSpPr>
          <a:xfrm>
            <a:off x="436025" y="6939118"/>
            <a:ext cx="14858200" cy="4755954"/>
            <a:chOff x="447400" y="8220307"/>
            <a:chExt cx="14858200" cy="3240000"/>
          </a:xfrm>
        </p:grpSpPr>
        <p:sp>
          <p:nvSpPr>
            <p:cNvPr id="44" name="矩形: 圓角 14">
              <a:extLst>
                <a:ext uri="{FF2B5EF4-FFF2-40B4-BE49-F238E27FC236}">
                  <a16:creationId xmlns:a16="http://schemas.microsoft.com/office/drawing/2014/main" id="{8E1DD026-FF18-C4EB-57A7-6ACABD4081E1}"/>
                </a:ext>
              </a:extLst>
            </p:cNvPr>
            <p:cNvSpPr>
              <a:spLocks/>
            </p:cNvSpPr>
            <p:nvPr/>
          </p:nvSpPr>
          <p:spPr>
            <a:xfrm>
              <a:off x="1265600" y="8220307"/>
              <a:ext cx="14040000" cy="3240000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zh-TW" altLang="en-US" sz="2800">
                <a:solidFill>
                  <a:schemeClr val="tx1"/>
                </a:solidFill>
                <a:latin typeface="Microsoft JhengHei"/>
                <a:ea typeface="Microsoft JhengHei"/>
              </a:endParaRPr>
            </a:p>
            <a:p>
              <a:endParaRPr lang="zh-TW" altLang="en-US" sz="2800">
                <a:solidFill>
                  <a:schemeClr val="tx1"/>
                </a:solidFill>
                <a:latin typeface="Microsoft JhengHei"/>
                <a:ea typeface="Microsoft JhengHei"/>
                <a:cs typeface="Calibri"/>
              </a:endParaRPr>
            </a:p>
          </p:txBody>
        </p:sp>
        <p:sp>
          <p:nvSpPr>
            <p:cNvPr id="60" name="流程圖: 換頁接點 1038">
              <a:extLst>
                <a:ext uri="{FF2B5EF4-FFF2-40B4-BE49-F238E27FC236}">
                  <a16:creationId xmlns:a16="http://schemas.microsoft.com/office/drawing/2014/main" id="{D6647DE0-6CA0-33EE-150B-F97D8BBB37FB}"/>
                </a:ext>
              </a:extLst>
            </p:cNvPr>
            <p:cNvSpPr>
              <a:spLocks/>
            </p:cNvSpPr>
            <p:nvPr/>
          </p:nvSpPr>
          <p:spPr>
            <a:xfrm rot="16200000">
              <a:off x="-622137" y="9289844"/>
              <a:ext cx="3240000" cy="1100926"/>
            </a:xfrm>
            <a:prstGeom prst="flowChartOffpageConnector">
              <a:avLst/>
            </a:prstGeom>
            <a:solidFill>
              <a:schemeClr val="tx2">
                <a:lumMod val="75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/>
            </a:p>
          </p:txBody>
        </p:sp>
      </p:grpSp>
      <p:grpSp>
        <p:nvGrpSpPr>
          <p:cNvPr id="1052" name="群組 1051">
            <a:extLst>
              <a:ext uri="{FF2B5EF4-FFF2-40B4-BE49-F238E27FC236}">
                <a16:creationId xmlns:a16="http://schemas.microsoft.com/office/drawing/2014/main" id="{8A4B5612-3776-179B-A968-61B1A325BD5E}"/>
              </a:ext>
            </a:extLst>
          </p:cNvPr>
          <p:cNvGrpSpPr/>
          <p:nvPr/>
        </p:nvGrpSpPr>
        <p:grpSpPr>
          <a:xfrm>
            <a:off x="449233" y="4004327"/>
            <a:ext cx="14844941" cy="2626240"/>
            <a:chOff x="469464" y="4175340"/>
            <a:chExt cx="14844941" cy="2856782"/>
          </a:xfrm>
        </p:grpSpPr>
        <p:sp>
          <p:nvSpPr>
            <p:cNvPr id="15" name="矩形: 圓角 14">
              <a:extLst>
                <a:ext uri="{FF2B5EF4-FFF2-40B4-BE49-F238E27FC236}">
                  <a16:creationId xmlns:a16="http://schemas.microsoft.com/office/drawing/2014/main" id="{2936D233-8537-0545-5A98-E82BE4600D5C}"/>
                </a:ext>
              </a:extLst>
            </p:cNvPr>
            <p:cNvSpPr/>
            <p:nvPr/>
          </p:nvSpPr>
          <p:spPr>
            <a:xfrm>
              <a:off x="1274405" y="4175340"/>
              <a:ext cx="14040000" cy="2856782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zh-TW" altLang="en-US" sz="2800">
                <a:solidFill>
                  <a:schemeClr val="tx1"/>
                </a:solidFill>
                <a:latin typeface="Microsoft JhengHei"/>
                <a:ea typeface="Microsoft JhengHei"/>
              </a:endParaRPr>
            </a:p>
            <a:p>
              <a:endParaRPr lang="zh-TW" altLang="en-US" sz="2800">
                <a:solidFill>
                  <a:schemeClr val="tx1"/>
                </a:solidFill>
                <a:latin typeface="Microsoft JhengHei"/>
                <a:ea typeface="Microsoft JhengHei"/>
                <a:cs typeface="Calibri"/>
              </a:endParaRPr>
            </a:p>
          </p:txBody>
        </p:sp>
        <p:sp>
          <p:nvSpPr>
            <p:cNvPr id="1048" name="流程圖: 換頁接點 1038">
              <a:extLst>
                <a:ext uri="{FF2B5EF4-FFF2-40B4-BE49-F238E27FC236}">
                  <a16:creationId xmlns:a16="http://schemas.microsoft.com/office/drawing/2014/main" id="{AF4FF35A-7ACF-5168-D743-D9B0E61F75F4}"/>
                </a:ext>
              </a:extLst>
            </p:cNvPr>
            <p:cNvSpPr/>
            <p:nvPr/>
          </p:nvSpPr>
          <p:spPr>
            <a:xfrm rot="16200000">
              <a:off x="-419454" y="5064258"/>
              <a:ext cx="2856782" cy="1078945"/>
            </a:xfrm>
            <a:prstGeom prst="flowChartOffpageConnector">
              <a:avLst/>
            </a:prstGeom>
            <a:solidFill>
              <a:schemeClr val="tx2">
                <a:lumMod val="75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/>
            </a:p>
          </p:txBody>
        </p:sp>
      </p:grp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6651314-7EAA-2785-7409-9DCA729979D5}"/>
              </a:ext>
            </a:extLst>
          </p:cNvPr>
          <p:cNvSpPr txBox="1"/>
          <p:nvPr/>
        </p:nvSpPr>
        <p:spPr>
          <a:xfrm>
            <a:off x="-1" y="2754931"/>
            <a:ext cx="302402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bg1"/>
                </a:solidFill>
                <a:latin typeface="Microsoft JhengHei"/>
                <a:ea typeface="Microsoft JhengHei"/>
              </a:rPr>
              <a:t>循環經濟－土木應用組               指導教授：林孟郁老師          組員：</a:t>
            </a:r>
            <a:r>
              <a:rPr lang="zh-HK" altLang="en-US" sz="3600" b="0" i="0" dirty="0">
                <a:solidFill>
                  <a:schemeClr val="bg1"/>
                </a:solidFill>
                <a:effectLst/>
                <a:latin typeface="Microsoft JhengHei"/>
                <a:ea typeface="Microsoft JhengHei"/>
              </a:rPr>
              <a:t>李瑋浩    </a:t>
            </a:r>
            <a:r>
              <a:rPr lang="zh-TW" altLang="zh-HK" sz="3600" b="0" i="0" dirty="0">
                <a:solidFill>
                  <a:schemeClr val="bg1"/>
                </a:solidFill>
                <a:effectLst/>
                <a:latin typeface="Microsoft JhengHei"/>
                <a:ea typeface="Microsoft JhengHei"/>
              </a:rPr>
              <a:t>陳駿曦</a:t>
            </a:r>
            <a:r>
              <a:rPr lang="en-US" altLang="zh-TW" sz="3600" b="0" i="0" dirty="0">
                <a:solidFill>
                  <a:schemeClr val="bg1"/>
                </a:solidFill>
                <a:effectLst/>
                <a:latin typeface="Microsoft JhengHei"/>
                <a:ea typeface="Microsoft JhengHei"/>
              </a:rPr>
              <a:t>     </a:t>
            </a:r>
            <a:r>
              <a:rPr lang="zh-TW" altLang="zh-HK" sz="3600" b="0" i="0" dirty="0">
                <a:solidFill>
                  <a:schemeClr val="bg1"/>
                </a:solidFill>
                <a:effectLst/>
                <a:latin typeface="Microsoft JhengHei"/>
                <a:ea typeface="Microsoft JhengHei"/>
              </a:rPr>
              <a:t>謝景軒</a:t>
            </a:r>
            <a:r>
              <a:rPr lang="en-US" altLang="zh-TW" sz="3600" b="0" i="0" dirty="0">
                <a:solidFill>
                  <a:schemeClr val="bg1"/>
                </a:solidFill>
                <a:effectLst/>
                <a:latin typeface="Microsoft JhengHei"/>
                <a:ea typeface="Microsoft JhengHei"/>
              </a:rPr>
              <a:t>     </a:t>
            </a:r>
            <a:r>
              <a:rPr lang="zh-TW" altLang="zh-HK" sz="3600" b="0" i="0" dirty="0">
                <a:solidFill>
                  <a:schemeClr val="bg1"/>
                </a:solidFill>
                <a:effectLst/>
                <a:latin typeface="Microsoft JhengHei"/>
                <a:ea typeface="Microsoft JhengHei"/>
              </a:rPr>
              <a:t>王偉霖</a:t>
            </a:r>
            <a:r>
              <a:rPr lang="en-US" altLang="zh-TW" sz="3600" b="0" i="0" dirty="0">
                <a:solidFill>
                  <a:schemeClr val="bg1"/>
                </a:solidFill>
                <a:effectLst/>
                <a:latin typeface="Microsoft JhengHei"/>
                <a:ea typeface="Microsoft JhengHei"/>
              </a:rPr>
              <a:t>     </a:t>
            </a:r>
            <a:r>
              <a:rPr lang="zh-TW" altLang="zh-HK" sz="3600" b="0" i="0" dirty="0">
                <a:solidFill>
                  <a:schemeClr val="bg1"/>
                </a:solidFill>
                <a:effectLst/>
                <a:latin typeface="Microsoft JhengHei"/>
                <a:ea typeface="Microsoft JhengHei"/>
              </a:rPr>
              <a:t>范志浩</a:t>
            </a:r>
            <a:r>
              <a:rPr lang="en-US" altLang="zh-TW" sz="3600" b="0" i="0" dirty="0">
                <a:solidFill>
                  <a:schemeClr val="bg1"/>
                </a:solidFill>
                <a:effectLst/>
                <a:latin typeface="Microsoft JhengHei"/>
                <a:ea typeface="Microsoft JhengHei"/>
              </a:rPr>
              <a:t>     </a:t>
            </a:r>
            <a:r>
              <a:rPr lang="zh-TW" altLang="zh-HK" sz="3600" b="0" i="0" dirty="0">
                <a:solidFill>
                  <a:schemeClr val="bg1"/>
                </a:solidFill>
                <a:effectLst/>
                <a:latin typeface="Microsoft JhengHei"/>
                <a:ea typeface="Microsoft JhengHei"/>
              </a:rPr>
              <a:t>何其緯</a:t>
            </a:r>
            <a:r>
              <a:rPr lang="en-US" altLang="zh-TW" sz="3600" b="0" i="0" dirty="0">
                <a:solidFill>
                  <a:schemeClr val="bg1"/>
                </a:solidFill>
                <a:effectLst/>
                <a:latin typeface="Microsoft JhengHei"/>
                <a:ea typeface="Microsoft JhengHei"/>
              </a:rPr>
              <a:t>     </a:t>
            </a:r>
            <a:r>
              <a:rPr lang="zh-TW" altLang="zh-HK" sz="3600" b="0" i="0" dirty="0">
                <a:solidFill>
                  <a:schemeClr val="bg1"/>
                </a:solidFill>
                <a:effectLst/>
                <a:latin typeface="Microsoft JhengHei"/>
                <a:ea typeface="Microsoft JhengHei"/>
              </a:rPr>
              <a:t>莊祐翔</a:t>
            </a:r>
            <a:endParaRPr lang="zh-HK" altLang="en-US" sz="3600" dirty="0">
              <a:solidFill>
                <a:schemeClr val="bg1"/>
              </a:solidFill>
              <a:latin typeface="Microsoft JhengHei"/>
              <a:ea typeface="Microsoft Jheng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729FB5-E2D0-A2FE-2605-6299E5049717}"/>
              </a:ext>
            </a:extLst>
          </p:cNvPr>
          <p:cNvSpPr/>
          <p:nvPr/>
        </p:nvSpPr>
        <p:spPr>
          <a:xfrm>
            <a:off x="0" y="40643529"/>
            <a:ext cx="30240288" cy="22273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bg1"/>
              </a:solidFill>
            </a:endParaRPr>
          </a:p>
        </p:txBody>
      </p:sp>
      <p:pic>
        <p:nvPicPr>
          <p:cNvPr id="19" name="圖片 18" descr="一張含有 字型, 螢幕擷取畫面, 圖形, 設計 的圖片&#10;&#10;自動產生的描述">
            <a:extLst>
              <a:ext uri="{FF2B5EF4-FFF2-40B4-BE49-F238E27FC236}">
                <a16:creationId xmlns:a16="http://schemas.microsoft.com/office/drawing/2014/main" id="{CAD50C4F-5D62-62A5-A9BC-3A67D11EAC6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057"/>
          <a:stretch/>
        </p:blipFill>
        <p:spPr>
          <a:xfrm>
            <a:off x="1640688" y="40822575"/>
            <a:ext cx="4755733" cy="1815882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AA425F37-D9AC-90CB-EF9E-7C0C78779D1E}"/>
              </a:ext>
            </a:extLst>
          </p:cNvPr>
          <p:cNvSpPr txBox="1"/>
          <p:nvPr/>
        </p:nvSpPr>
        <p:spPr>
          <a:xfrm>
            <a:off x="9501340" y="41754488"/>
            <a:ext cx="98765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800" b="1" i="0" dirty="0">
                <a:effectLst/>
                <a:latin typeface="Microsoft JhengHei"/>
                <a:ea typeface="Microsoft JhengHei"/>
              </a:rPr>
              <a:t>112</a:t>
            </a:r>
            <a:r>
              <a:rPr lang="zh-TW" altLang="en-US" sz="4800" b="1" i="0" dirty="0">
                <a:effectLst/>
                <a:latin typeface="Microsoft JhengHei"/>
                <a:ea typeface="Microsoft JhengHei"/>
              </a:rPr>
              <a:t>學年度土木工程實務專題競賽</a:t>
            </a:r>
            <a:endParaRPr lang="zh-HK" altLang="en-US" sz="4800" b="1" dirty="0">
              <a:latin typeface="Microsoft JhengHei"/>
              <a:ea typeface="Microsoft JhengHei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56D2B13-8F9B-9E2F-D96A-E75441D849EE}"/>
              </a:ext>
            </a:extLst>
          </p:cNvPr>
          <p:cNvSpPr txBox="1"/>
          <p:nvPr/>
        </p:nvSpPr>
        <p:spPr>
          <a:xfrm>
            <a:off x="11109944" y="40822575"/>
            <a:ext cx="662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latin typeface="Microsoft JhengHei"/>
                <a:ea typeface="Microsoft JhengHei"/>
              </a:rPr>
              <a:t>中原大學土木工程學系</a:t>
            </a:r>
            <a:endParaRPr lang="zh-HK" altLang="en-US" sz="4800" b="1" dirty="0">
              <a:latin typeface="Microsoft JhengHei"/>
              <a:ea typeface="Microsoft JhengHe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67D02CC-59F6-B9A0-1D5B-7B1096D3B2A4}"/>
              </a:ext>
            </a:extLst>
          </p:cNvPr>
          <p:cNvSpPr txBox="1"/>
          <p:nvPr/>
        </p:nvSpPr>
        <p:spPr>
          <a:xfrm>
            <a:off x="2914769" y="688657"/>
            <a:ext cx="25772928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zh-TW" altLang="en-US" sz="8800" b="1" dirty="0">
                <a:latin typeface="Microsoft JhengHei"/>
                <a:ea typeface="Microsoft JhengHei"/>
              </a:rPr>
              <a:t>雙圓柱渦旋誘發振動能量擷取裝置之尾馳效應</a:t>
            </a:r>
            <a:endParaRPr lang="zh-HK" altLang="en-US" sz="8800" b="1" dirty="0">
              <a:latin typeface="Microsoft JhengHei"/>
              <a:ea typeface="Microsoft JhengHei"/>
            </a:endParaRPr>
          </a:p>
        </p:txBody>
      </p:sp>
      <p:sp>
        <p:nvSpPr>
          <p:cNvPr id="1047" name="文字方塊 3">
            <a:extLst>
              <a:ext uri="{FF2B5EF4-FFF2-40B4-BE49-F238E27FC236}">
                <a16:creationId xmlns:a16="http://schemas.microsoft.com/office/drawing/2014/main" id="{F0E60549-8472-FEC6-540A-C9B46FFF8498}"/>
              </a:ext>
            </a:extLst>
          </p:cNvPr>
          <p:cNvSpPr txBox="1"/>
          <p:nvPr/>
        </p:nvSpPr>
        <p:spPr>
          <a:xfrm>
            <a:off x="19034478" y="6351228"/>
            <a:ext cx="137485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TW" altLang="en-US" sz="4000" b="1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9376CABF-3C2D-7E55-28AB-432C59552D3A}"/>
              </a:ext>
            </a:extLst>
          </p:cNvPr>
          <p:cNvSpPr txBox="1"/>
          <p:nvPr/>
        </p:nvSpPr>
        <p:spPr>
          <a:xfrm>
            <a:off x="591338" y="4655726"/>
            <a:ext cx="662835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TW" sz="4000" b="1" dirty="0">
                <a:solidFill>
                  <a:schemeClr val="bg1"/>
                </a:solidFill>
                <a:latin typeface="Microsoft JhengHei"/>
                <a:ea typeface="Microsoft JhengHei"/>
                <a:cs typeface="+mn-lt"/>
              </a:rPr>
              <a:t>摘</a:t>
            </a:r>
            <a:endParaRPr lang="en-US" altLang="zh-TW" sz="4000" b="1" dirty="0">
              <a:solidFill>
                <a:schemeClr val="bg1"/>
              </a:solidFill>
              <a:latin typeface="Microsoft JhengHei"/>
              <a:ea typeface="Microsoft JhengHei"/>
              <a:cs typeface="+mn-lt"/>
            </a:endParaRPr>
          </a:p>
          <a:p>
            <a:pPr algn="ctr"/>
            <a:r>
              <a:rPr lang="zh-TW" sz="4000" b="1" dirty="0">
                <a:solidFill>
                  <a:schemeClr val="bg1"/>
                </a:solidFill>
                <a:latin typeface="Microsoft JhengHei"/>
                <a:ea typeface="Microsoft JhengHei"/>
                <a:cs typeface="+mn-lt"/>
              </a:rPr>
              <a:t>要</a:t>
            </a:r>
            <a:endParaRPr lang="en-US" sz="4000" dirty="0">
              <a:solidFill>
                <a:schemeClr val="bg1"/>
              </a:solidFill>
              <a:latin typeface="Microsoft JhengHei"/>
              <a:ea typeface="Microsoft JhengHei"/>
              <a:cs typeface="Calibri"/>
            </a:endParaRP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3B70B91F-7B6D-0856-C097-3E83AB7E54D6}"/>
              </a:ext>
            </a:extLst>
          </p:cNvPr>
          <p:cNvSpPr txBox="1"/>
          <p:nvPr/>
        </p:nvSpPr>
        <p:spPr>
          <a:xfrm>
            <a:off x="20424101" y="40838528"/>
            <a:ext cx="10668382" cy="1845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800">
                <a:latin typeface="Microsoft JhengHei"/>
                <a:ea typeface="Microsoft JhengHei"/>
                <a:cs typeface="Calibri"/>
              </a:rPr>
              <a:t>主辦單位：中原大學工學院、中原大學土木工程學系  </a:t>
            </a:r>
            <a:endParaRPr lang="en-US" altLang="zh-TW" sz="2800">
              <a:latin typeface="Microsoft JhengHei"/>
              <a:ea typeface="Microsoft JhengHei"/>
              <a:cs typeface="Calibri"/>
            </a:endParaRPr>
          </a:p>
          <a:p>
            <a:r>
              <a:rPr lang="zh-TW" altLang="en-US" sz="2800">
                <a:latin typeface="Microsoft JhengHei"/>
                <a:ea typeface="Microsoft JhengHei"/>
                <a:cs typeface="Calibri"/>
              </a:rPr>
              <a:t>指導單位：教育部</a:t>
            </a:r>
            <a:r>
              <a:rPr lang="en-US" sz="2800">
                <a:latin typeface="Microsoft JhengHei"/>
                <a:ea typeface="Microsoft JhengHei"/>
                <a:cs typeface="Calibri"/>
              </a:rPr>
              <a:t>(</a:t>
            </a:r>
            <a:r>
              <a:rPr lang="zh-TW" altLang="en-US" sz="2800">
                <a:latin typeface="Microsoft JhengHei"/>
                <a:ea typeface="Microsoft JhengHei"/>
                <a:cs typeface="Calibri"/>
              </a:rPr>
              <a:t>高等教育深耕計畫）  </a:t>
            </a:r>
            <a:endParaRPr lang="en-US" altLang="zh-TW" sz="2800">
              <a:latin typeface="Microsoft JhengHei"/>
              <a:ea typeface="Microsoft JhengHei"/>
              <a:cs typeface="Calibri"/>
            </a:endParaRPr>
          </a:p>
          <a:p>
            <a:r>
              <a:rPr lang="zh-TW" altLang="en-US" sz="2800">
                <a:latin typeface="Microsoft JhengHei"/>
                <a:ea typeface="Microsoft JhengHei"/>
                <a:cs typeface="Calibri"/>
              </a:rPr>
              <a:t>協辦單位：中原大學研發處競爭力發展中心               </a:t>
            </a:r>
            <a:endParaRPr lang="en-US" altLang="zh-TW" sz="2800">
              <a:latin typeface="Microsoft JhengHei"/>
              <a:ea typeface="Microsoft JhengHei"/>
              <a:cs typeface="Calibri"/>
            </a:endParaRPr>
          </a:p>
          <a:p>
            <a:pPr algn="l"/>
            <a:r>
              <a:rPr lang="zh-TW" altLang="en-US" sz="2800">
                <a:latin typeface="Microsoft JhengHei"/>
                <a:ea typeface="Microsoft JhengHei"/>
                <a:cs typeface="Calibri"/>
              </a:rPr>
              <a:t>贊助單位：利晉工程股份有限公司</a:t>
            </a:r>
            <a:endParaRPr lang="en-US">
              <a:latin typeface="Microsoft JhengHei"/>
              <a:ea typeface="Microsoft JhengHei"/>
              <a:cs typeface="Calibri"/>
            </a:endParaRP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9CB3E794-7622-1130-DACC-09553B2C4ACB}"/>
              </a:ext>
            </a:extLst>
          </p:cNvPr>
          <p:cNvSpPr txBox="1"/>
          <p:nvPr/>
        </p:nvSpPr>
        <p:spPr>
          <a:xfrm>
            <a:off x="1635684" y="12375713"/>
            <a:ext cx="13484460" cy="25985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TW" sz="2800" dirty="0" err="1">
                <a:latin typeface="Microsoft JhengHei"/>
                <a:ea typeface="Microsoft JhengHei"/>
                <a:cs typeface="+mn-lt"/>
              </a:rPr>
              <a:t>分別以L</a:t>
            </a:r>
            <a:r>
              <a:rPr lang="zh-TW" sz="2800" dirty="0">
                <a:latin typeface="Microsoft JhengHei"/>
                <a:ea typeface="Microsoft JhengHei"/>
                <a:cs typeface="+mn-lt"/>
              </a:rPr>
              <a:t>表示兩個</a:t>
            </a:r>
            <a:r>
              <a:rPr lang="zh-TW" altLang="en-US" sz="2800" dirty="0">
                <a:solidFill>
                  <a:srgbClr val="0F0F0F"/>
                </a:solidFill>
                <a:latin typeface="Microsoft JhengHei"/>
                <a:ea typeface="Microsoft JhengHei"/>
                <a:cs typeface="+mn-lt"/>
              </a:rPr>
              <a:t>圓柱</a:t>
            </a:r>
            <a:r>
              <a:rPr lang="zh-TW" sz="2800" dirty="0">
                <a:latin typeface="Microsoft JhengHei"/>
                <a:ea typeface="Microsoft JhengHei"/>
                <a:cs typeface="+mn-lt"/>
              </a:rPr>
              <a:t>之間的水平</a:t>
            </a: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距離、D</a:t>
            </a:r>
            <a:r>
              <a:rPr lang="zh-TW" sz="2800" dirty="0">
                <a:latin typeface="Microsoft JhengHei"/>
                <a:ea typeface="Microsoft JhengHei"/>
                <a:cs typeface="+mn-lt"/>
              </a:rPr>
              <a:t>表示</a:t>
            </a:r>
            <a:r>
              <a:rPr lang="zh-TW" altLang="en-US" sz="2800" dirty="0">
                <a:solidFill>
                  <a:srgbClr val="0F0F0F"/>
                </a:solidFill>
                <a:latin typeface="Microsoft JhengHei"/>
                <a:ea typeface="Microsoft JhengHei"/>
                <a:cs typeface="+mn-lt"/>
              </a:rPr>
              <a:t>圓柱的直徑，</a:t>
            </a:r>
            <a:r>
              <a:rPr lang="en-US" altLang="zh-TW" sz="2800" dirty="0">
                <a:latin typeface="Microsoft JhengHei"/>
                <a:ea typeface="Microsoft JhengHei"/>
                <a:cs typeface="+mn-lt"/>
              </a:rPr>
              <a:t>L/D 為</a:t>
            </a:r>
            <a:r>
              <a:rPr lang="zh-TW" sz="2800" dirty="0">
                <a:latin typeface="Microsoft JhengHei"/>
                <a:ea typeface="Microsoft JhengHei"/>
                <a:cs typeface="+mn-lt"/>
              </a:rPr>
              <a:t>間距比</a:t>
            </a: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。</a:t>
            </a:r>
            <a:endParaRPr lang="en-US" altLang="zh-TW" sz="2800" dirty="0">
              <a:latin typeface="Microsoft JhengHei"/>
              <a:ea typeface="Microsoft JhengHei"/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調整</a:t>
            </a:r>
            <a:r>
              <a:rPr lang="zh-TW" altLang="en-US" sz="2800" dirty="0">
                <a:solidFill>
                  <a:srgbClr val="0F0F0F"/>
                </a:solidFill>
                <a:latin typeface="Microsoft JhengHei"/>
                <a:ea typeface="Microsoft JhengHei"/>
                <a:cs typeface="+mn-lt"/>
              </a:rPr>
              <a:t>圓柱</a:t>
            </a:r>
            <a:r>
              <a:rPr lang="zh-TW" sz="2800" dirty="0">
                <a:latin typeface="Microsoft JhengHei"/>
                <a:ea typeface="Microsoft JhengHei"/>
                <a:cs typeface="+mn-lt"/>
              </a:rPr>
              <a:t>的間距比，</a:t>
            </a: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並分析不同</a:t>
            </a:r>
            <a:r>
              <a:rPr lang="zh-TW" sz="2800" dirty="0">
                <a:latin typeface="Microsoft JhengHei"/>
                <a:ea typeface="Microsoft JhengHei"/>
                <a:cs typeface="+mn-lt"/>
              </a:rPr>
              <a:t>間距比</a:t>
            </a: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對速度、垂直位移、升、阻力係數的影響，並探討雷諾數的影響。</a:t>
            </a:r>
            <a:endParaRPr lang="en-US" altLang="ja-JP" sz="2800" dirty="0">
              <a:latin typeface="Microsoft JhengHei"/>
              <a:ea typeface="Microsoft JhengHei"/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ja-JP" altLang="en-US" sz="2800" dirty="0">
                <a:latin typeface="Microsoft JhengHei"/>
                <a:ea typeface="Microsoft JhengHei"/>
                <a:cs typeface="+mn-lt"/>
              </a:rPr>
              <a:t>分析間距</a:t>
            </a:r>
            <a:r>
              <a:rPr lang="en-US" altLang="ja-JP" sz="2800" dirty="0">
                <a:latin typeface="Microsoft JhengHei"/>
                <a:ea typeface="Microsoft JhengHei"/>
                <a:cs typeface="+mn-lt"/>
              </a:rPr>
              <a:t> </a:t>
            </a:r>
            <a:r>
              <a:rPr lang="en-US" sz="2800" dirty="0">
                <a:latin typeface="Microsoft JhengHei"/>
                <a:ea typeface="Microsoft JhengHei"/>
                <a:cs typeface="+mn-lt"/>
              </a:rPr>
              <a:t>L/D = 1</a:t>
            </a:r>
            <a:r>
              <a:rPr lang="ja-JP" altLang="en-US" sz="2800" dirty="0">
                <a:latin typeface="Microsoft JhengHei"/>
                <a:ea typeface="Microsoft JhengHei"/>
                <a:cs typeface="+mn-lt"/>
              </a:rPr>
              <a:t>，</a:t>
            </a:r>
            <a:r>
              <a:rPr lang="en-US" sz="2800" dirty="0">
                <a:latin typeface="Microsoft JhengHei"/>
                <a:ea typeface="Microsoft JhengHei"/>
                <a:cs typeface="+mn-lt"/>
              </a:rPr>
              <a:t>1.5</a:t>
            </a:r>
            <a:r>
              <a:rPr lang="ja-JP" altLang="en-US" sz="2800" dirty="0">
                <a:latin typeface="Microsoft JhengHei"/>
                <a:ea typeface="Microsoft JhengHei"/>
                <a:cs typeface="+mn-lt"/>
              </a:rPr>
              <a:t>，</a:t>
            </a:r>
            <a:r>
              <a:rPr lang="en-US" sz="2800" dirty="0">
                <a:latin typeface="Microsoft JhengHei"/>
                <a:ea typeface="Microsoft JhengHei"/>
                <a:cs typeface="+mn-lt"/>
              </a:rPr>
              <a:t>2</a:t>
            </a:r>
            <a:r>
              <a:rPr lang="ja-JP" altLang="en-US" sz="2800" dirty="0">
                <a:latin typeface="Microsoft JhengHei"/>
                <a:ea typeface="Microsoft JhengHei"/>
                <a:cs typeface="+mn-lt"/>
              </a:rPr>
              <a:t>，</a:t>
            </a:r>
            <a:r>
              <a:rPr lang="en-US" sz="2800" dirty="0">
                <a:latin typeface="Microsoft JhengHei"/>
                <a:ea typeface="Microsoft JhengHei"/>
                <a:cs typeface="+mn-lt"/>
              </a:rPr>
              <a:t>2.5</a:t>
            </a:r>
            <a:r>
              <a:rPr lang="ja-JP" altLang="en-US" sz="2800" dirty="0">
                <a:latin typeface="Microsoft JhengHei"/>
                <a:ea typeface="Microsoft JhengHei"/>
                <a:cs typeface="+mn-lt"/>
              </a:rPr>
              <a:t>，</a:t>
            </a:r>
            <a:r>
              <a:rPr lang="en-US" sz="2800" dirty="0">
                <a:latin typeface="Microsoft JhengHei"/>
                <a:ea typeface="Microsoft JhengHei"/>
                <a:cs typeface="+mn-lt"/>
              </a:rPr>
              <a:t>3</a:t>
            </a:r>
            <a:r>
              <a:rPr lang="ja-JP" altLang="en-US" sz="2800" dirty="0">
                <a:latin typeface="Microsoft JhengHei"/>
                <a:ea typeface="Microsoft JhengHei"/>
                <a:cs typeface="+mn-lt"/>
              </a:rPr>
              <a:t>，</a:t>
            </a:r>
            <a:r>
              <a:rPr lang="en-US" sz="2800" dirty="0">
                <a:latin typeface="Microsoft JhengHei"/>
                <a:ea typeface="Microsoft JhengHei"/>
                <a:cs typeface="+mn-lt"/>
              </a:rPr>
              <a:t>3.5</a:t>
            </a:r>
            <a:r>
              <a:rPr lang="ja-JP" altLang="en-US" sz="2800" dirty="0">
                <a:latin typeface="Microsoft JhengHei"/>
                <a:ea typeface="Microsoft JhengHei"/>
                <a:cs typeface="+mn-lt"/>
              </a:rPr>
              <a:t>，</a:t>
            </a:r>
            <a:r>
              <a:rPr lang="en-US" sz="2800" dirty="0">
                <a:latin typeface="Microsoft JhengHei"/>
                <a:ea typeface="Microsoft JhengHei"/>
                <a:cs typeface="+mn-lt"/>
              </a:rPr>
              <a:t>4</a:t>
            </a:r>
            <a:r>
              <a:rPr lang="ja-JP" altLang="en-US" sz="2800" dirty="0">
                <a:latin typeface="Microsoft JhengHei"/>
                <a:ea typeface="Microsoft JhengHei"/>
                <a:cs typeface="+mn-lt"/>
              </a:rPr>
              <a:t>，4.5，5 對比原來的垂直位移和速度。</a:t>
            </a:r>
            <a:r>
              <a:rPr lang="en-US" altLang="ja-JP" sz="2800" dirty="0">
                <a:latin typeface="Microsoft JhengHei"/>
                <a:ea typeface="Microsoft JhengHei"/>
                <a:cs typeface="+mn-lt"/>
              </a:rPr>
              <a:t> </a:t>
            </a:r>
            <a:endParaRPr lang="en-US" sz="2800" dirty="0">
              <a:latin typeface="Microsoft JhengHei"/>
              <a:ea typeface="Microsoft JhengHei"/>
              <a:cs typeface="Calibri"/>
            </a:endParaRPr>
          </a:p>
        </p:txBody>
      </p:sp>
      <p:sp>
        <p:nvSpPr>
          <p:cNvPr id="1049" name="文字方塊 1048">
            <a:extLst>
              <a:ext uri="{FF2B5EF4-FFF2-40B4-BE49-F238E27FC236}">
                <a16:creationId xmlns:a16="http://schemas.microsoft.com/office/drawing/2014/main" id="{BBAEDA85-05AB-D9E5-FA99-ABFA9C334A45}"/>
              </a:ext>
            </a:extLst>
          </p:cNvPr>
          <p:cNvSpPr txBox="1"/>
          <p:nvPr/>
        </p:nvSpPr>
        <p:spPr>
          <a:xfrm rot="5400000">
            <a:off x="13918255" y="6298866"/>
            <a:ext cx="4493538" cy="977515"/>
          </a:xfrm>
          <a:prstGeom prst="rect">
            <a:avLst/>
          </a:prstGeom>
          <a:noFill/>
        </p:spPr>
        <p:txBody>
          <a:bodyPr rot="0" spcFirstLastPara="0" vertOverflow="overflow" horzOverflow="overflow" vert="vert270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TW" sz="4000" b="1" dirty="0">
                <a:solidFill>
                  <a:srgbClr val="FFFFFF"/>
                </a:solidFill>
                <a:latin typeface="Microsoft JhengHei"/>
                <a:ea typeface="Microsoft JhengHei"/>
              </a:rPr>
              <a:t>VIV</a:t>
            </a:r>
            <a:r>
              <a:rPr lang="zh-TW" altLang="en-US" sz="4000" b="1" dirty="0">
                <a:solidFill>
                  <a:srgbClr val="FFFFFF"/>
                </a:solidFill>
                <a:latin typeface="Microsoft JhengHei"/>
                <a:ea typeface="Microsoft JhengHei"/>
                <a:cs typeface="+mn-lt"/>
              </a:rPr>
              <a:t>能量</a:t>
            </a:r>
            <a:r>
              <a:rPr lang="zh-TW" sz="4000" b="1" dirty="0">
                <a:solidFill>
                  <a:srgbClr val="FFFFFF"/>
                </a:solidFill>
                <a:latin typeface="Microsoft JhengHei"/>
                <a:ea typeface="Microsoft JhengHei"/>
              </a:rPr>
              <a:t>擷取裝置</a:t>
            </a:r>
            <a:endParaRPr lang="zh-TW" altLang="en-US" sz="4000" b="1" dirty="0">
              <a:latin typeface="Microsoft JhengHei"/>
              <a:ea typeface="Microsoft JhengHe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799698-7FB0-C1BF-7228-ABB084E934B8}"/>
              </a:ext>
            </a:extLst>
          </p:cNvPr>
          <p:cNvSpPr txBox="1"/>
          <p:nvPr/>
        </p:nvSpPr>
        <p:spPr>
          <a:xfrm>
            <a:off x="1635684" y="4315946"/>
            <a:ext cx="13484460" cy="19522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sz="2800" dirty="0">
                <a:latin typeface="Microsoft JhengHei"/>
                <a:ea typeface="Microsoft JhengHei"/>
                <a:cs typeface="+mn-lt"/>
              </a:rPr>
              <a:t>本</a:t>
            </a: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研究利</a:t>
            </a:r>
            <a:r>
              <a:rPr lang="zh-TW" sz="2800" dirty="0">
                <a:latin typeface="Microsoft JhengHei"/>
                <a:ea typeface="Microsoft JhengHei"/>
                <a:cs typeface="+mn-lt"/>
              </a:rPr>
              <a:t>用</a:t>
            </a: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流體力學計算軟體</a:t>
            </a:r>
            <a:r>
              <a:rPr lang="en-US" altLang="zh-TW" sz="2800" dirty="0">
                <a:latin typeface="Microsoft JhengHei"/>
                <a:ea typeface="+mn-lt"/>
                <a:cs typeface="+mn-lt"/>
              </a:rPr>
              <a:t>Open</a:t>
            </a:r>
            <a:r>
              <a:rPr lang="zh-TW" sz="2800" dirty="0">
                <a:latin typeface="Microsoft JhengHei"/>
                <a:ea typeface="Microsoft JhengHei"/>
                <a:cs typeface="+mn-lt"/>
              </a:rPr>
              <a:t>FOA</a:t>
            </a:r>
            <a:r>
              <a:rPr lang="en-US" altLang="zh-TW" sz="2800" dirty="0">
                <a:latin typeface="Microsoft JhengHei"/>
                <a:ea typeface="+mn-lt"/>
                <a:cs typeface="+mn-lt"/>
              </a:rPr>
              <a:t>M</a:t>
            </a:r>
            <a:r>
              <a:rPr lang="zh-TW" sz="2800" dirty="0">
                <a:latin typeface="Microsoft JhengHei"/>
                <a:ea typeface="Microsoft JhengHei"/>
                <a:cs typeface="+mn-lt"/>
              </a:rPr>
              <a:t>建構均勻流通過圓柱的二維模型，</a:t>
            </a: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旨在探討圓柱</a:t>
            </a:r>
            <a:r>
              <a:rPr lang="zh-TW" sz="2800" dirty="0">
                <a:latin typeface="Microsoft JhengHei"/>
                <a:ea typeface="Microsoft JhengHei"/>
                <a:cs typeface="+mn-lt"/>
              </a:rPr>
              <a:t>間距下</a:t>
            </a: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，對於</a:t>
            </a:r>
            <a:r>
              <a:rPr lang="zh-TW" sz="2800" dirty="0">
                <a:latin typeface="Microsoft JhengHei"/>
                <a:ea typeface="Microsoft JhengHei"/>
                <a:cs typeface="+mn-lt"/>
              </a:rPr>
              <a:t>雙</a:t>
            </a:r>
            <a:r>
              <a:rPr lang="zh-TW" sz="2800" dirty="0">
                <a:latin typeface="微軟正黑體"/>
                <a:ea typeface="微軟正黑體"/>
                <a:cs typeface="+mn-lt"/>
              </a:rPr>
              <a:t>圓柱渦激</a:t>
            </a:r>
            <a:r>
              <a:rPr lang="zh-TW" altLang="en-US" sz="2800" dirty="0">
                <a:latin typeface="微軟正黑體"/>
                <a:ea typeface="微軟正黑體"/>
                <a:cs typeface="+mn-lt"/>
              </a:rPr>
              <a:t>振動 </a:t>
            </a:r>
            <a:r>
              <a:rPr lang="en-US" altLang="zh-TW" sz="2800" dirty="0">
                <a:latin typeface="微軟正黑體"/>
                <a:ea typeface="微軟正黑體"/>
                <a:cs typeface="+mn-lt"/>
              </a:rPr>
              <a:t>(VIV)</a:t>
            </a:r>
            <a:r>
              <a:rPr lang="zh-TW" altLang="en-US" sz="2800" dirty="0">
                <a:latin typeface="微軟正黑體"/>
                <a:ea typeface="微軟正黑體"/>
                <a:cs typeface="+mn-lt"/>
              </a:rPr>
              <a:t>現象及尾流馳振(</a:t>
            </a:r>
            <a:r>
              <a:rPr lang="en-US" altLang="zh-TW" sz="2800" dirty="0">
                <a:latin typeface="微軟正黑體"/>
                <a:ea typeface="微軟正黑體"/>
                <a:cs typeface="+mn-lt"/>
              </a:rPr>
              <a:t>wake-galloping)</a:t>
            </a:r>
            <a:r>
              <a:rPr lang="zh-TW" sz="2800" dirty="0">
                <a:latin typeface="微軟正黑體"/>
                <a:ea typeface="微軟正黑體"/>
                <a:cs typeface="+mn-lt"/>
              </a:rPr>
              <a:t>效應</a:t>
            </a:r>
            <a:r>
              <a:rPr lang="zh-TW" altLang="en-US" sz="2800" dirty="0">
                <a:latin typeface="微軟正黑體"/>
                <a:ea typeface="微軟正黑體"/>
                <a:cs typeface="+mn-lt"/>
              </a:rPr>
              <a:t>的</a:t>
            </a:r>
            <a:endParaRPr lang="en-US" altLang="zh-TW" sz="2800" dirty="0">
              <a:latin typeface="微軟正黑體"/>
              <a:ea typeface="微軟正黑體"/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2800" dirty="0">
                <a:latin typeface="微軟正黑體"/>
                <a:ea typeface="微軟正黑體"/>
                <a:cs typeface="+mn-lt"/>
              </a:rPr>
              <a:t>影響</a:t>
            </a:r>
            <a:r>
              <a:rPr lang="zh-TW" sz="2800" dirty="0">
                <a:latin typeface="微軟正黑體"/>
                <a:ea typeface="微軟正黑體"/>
                <a:cs typeface="+mn-lt"/>
              </a:rPr>
              <a:t>，</a:t>
            </a:r>
            <a:r>
              <a:rPr lang="zh-TW" altLang="en-US" sz="2800" dirty="0">
                <a:latin typeface="微軟正黑體"/>
                <a:ea typeface="微軟正黑體"/>
                <a:cs typeface="+mn-lt"/>
              </a:rPr>
              <a:t>來優化串列</a:t>
            </a:r>
            <a:r>
              <a:rPr lang="zh-TW" sz="2800" dirty="0">
                <a:latin typeface="微軟正黑體"/>
                <a:ea typeface="微軟正黑體"/>
                <a:cs typeface="+mn-lt"/>
              </a:rPr>
              <a:t>VIV能量擷取裝置</a:t>
            </a:r>
            <a:r>
              <a:rPr lang="zh-TW" altLang="en-US" sz="2800" dirty="0">
                <a:latin typeface="微軟正黑體"/>
                <a:ea typeface="微軟正黑體"/>
                <a:cs typeface="+mn-lt"/>
              </a:rPr>
              <a:t>的</a:t>
            </a:r>
            <a:r>
              <a:rPr lang="zh-TW" sz="2800" dirty="0">
                <a:latin typeface="微軟正黑體"/>
                <a:ea typeface="微軟正黑體"/>
                <a:cs typeface="+mn-lt"/>
              </a:rPr>
              <a:t>設計</a:t>
            </a:r>
            <a:r>
              <a:rPr lang="zh-TW" altLang="en-US" sz="2800" dirty="0">
                <a:latin typeface="微軟正黑體"/>
                <a:ea typeface="微軟正黑體"/>
                <a:cs typeface="+mn-lt"/>
              </a:rPr>
              <a:t>，以</a:t>
            </a:r>
            <a:r>
              <a:rPr lang="zh-TW" sz="2800" dirty="0">
                <a:latin typeface="微軟正黑體"/>
                <a:ea typeface="微軟正黑體"/>
                <a:cs typeface="+mn-lt"/>
              </a:rPr>
              <a:t>提高能量的擷取效率。</a:t>
            </a:r>
            <a:endParaRPr lang="en-US" altLang="zh-TW" sz="2800" dirty="0">
              <a:latin typeface="微軟正黑體"/>
              <a:ea typeface="微軟正黑體"/>
              <a:cs typeface="+mn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07B259-C348-81D5-944B-CDD8B8B5DCE5}"/>
              </a:ext>
            </a:extLst>
          </p:cNvPr>
          <p:cNvSpPr txBox="1"/>
          <p:nvPr/>
        </p:nvSpPr>
        <p:spPr>
          <a:xfrm>
            <a:off x="591338" y="12433276"/>
            <a:ext cx="720000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HK" sz="4000" b="1" baseline="0" dirty="0">
                <a:solidFill>
                  <a:srgbClr val="FFFFFF"/>
                </a:solidFill>
                <a:ea typeface="Microsoft JhengHei"/>
              </a:rPr>
              <a:t>研究方法</a:t>
            </a:r>
            <a:endParaRPr lang="en-US" dirty="0"/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E760B10E-5B8E-6F63-F745-C5A08D55F2CD}"/>
              </a:ext>
            </a:extLst>
          </p:cNvPr>
          <p:cNvGrpSpPr/>
          <p:nvPr/>
        </p:nvGrpSpPr>
        <p:grpSpPr>
          <a:xfrm>
            <a:off x="15667494" y="9586451"/>
            <a:ext cx="6780069" cy="5799970"/>
            <a:chOff x="15925623" y="10115995"/>
            <a:chExt cx="6726137" cy="532708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ED03ACA-0038-6946-2A4E-C4064B051E19}"/>
                </a:ext>
              </a:extLst>
            </p:cNvPr>
            <p:cNvSpPr/>
            <p:nvPr/>
          </p:nvSpPr>
          <p:spPr>
            <a:xfrm>
              <a:off x="16635697" y="10118681"/>
              <a:ext cx="6016063" cy="5324400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流程圖: 換頁接點 1038">
              <a:extLst>
                <a:ext uri="{FF2B5EF4-FFF2-40B4-BE49-F238E27FC236}">
                  <a16:creationId xmlns:a16="http://schemas.microsoft.com/office/drawing/2014/main" id="{0233044C-6F31-1E6C-3D69-E6E28CDC5148}"/>
                </a:ext>
              </a:extLst>
            </p:cNvPr>
            <p:cNvSpPr/>
            <p:nvPr/>
          </p:nvSpPr>
          <p:spPr>
            <a:xfrm rot="16200000">
              <a:off x="13852497" y="12189121"/>
              <a:ext cx="5325625" cy="1179373"/>
            </a:xfrm>
            <a:prstGeom prst="flowChartOffpageConnector">
              <a:avLst/>
            </a:prstGeom>
            <a:solidFill>
              <a:schemeClr val="tx2">
                <a:lumMod val="75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/>
            </a:p>
          </p:txBody>
        </p:sp>
      </p:grpSp>
      <p:sp>
        <p:nvSpPr>
          <p:cNvPr id="1026" name="文字方塊 1025">
            <a:extLst>
              <a:ext uri="{FF2B5EF4-FFF2-40B4-BE49-F238E27FC236}">
                <a16:creationId xmlns:a16="http://schemas.microsoft.com/office/drawing/2014/main" id="{9B9CACF0-E84D-9A97-067F-626B3BE4AEEA}"/>
              </a:ext>
            </a:extLst>
          </p:cNvPr>
          <p:cNvSpPr txBox="1"/>
          <p:nvPr/>
        </p:nvSpPr>
        <p:spPr>
          <a:xfrm>
            <a:off x="15663098" y="10560856"/>
            <a:ext cx="99068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雙圓柱示意圖</a:t>
            </a:r>
            <a:endParaRPr lang="zh-HK" altLang="en-US" sz="4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51D759E-6BA0-CD50-D6EE-48617AD167C0}"/>
              </a:ext>
            </a:extLst>
          </p:cNvPr>
          <p:cNvSpPr txBox="1"/>
          <p:nvPr/>
        </p:nvSpPr>
        <p:spPr>
          <a:xfrm>
            <a:off x="591339" y="8616410"/>
            <a:ext cx="671028" cy="13682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zh-TW" altLang="en-US" sz="4000" b="1" dirty="0">
                <a:solidFill>
                  <a:schemeClr val="bg1"/>
                </a:solidFill>
                <a:latin typeface="Microsoft JhengHei"/>
                <a:ea typeface="Microsoft JhengHei"/>
              </a:rPr>
              <a:t>背</a:t>
            </a:r>
            <a:endParaRPr lang="zh-HK" altLang="en-US" sz="4000" b="1" dirty="0">
              <a:solidFill>
                <a:schemeClr val="bg1"/>
              </a:solidFill>
              <a:latin typeface="Microsoft JhengHei"/>
              <a:ea typeface="Microsoft JhengHei"/>
            </a:endParaRPr>
          </a:p>
          <a:p>
            <a:pPr algn="ctr"/>
            <a:r>
              <a:rPr lang="zh-TW" altLang="en-US" sz="4000" b="1" dirty="0">
                <a:solidFill>
                  <a:schemeClr val="bg1"/>
                </a:solidFill>
                <a:latin typeface="Microsoft JhengHei"/>
                <a:ea typeface="Microsoft JhengHei"/>
              </a:rPr>
              <a:t>景</a:t>
            </a:r>
            <a:endParaRPr lang="zh-HK" altLang="en-US" sz="4000" b="1" dirty="0">
              <a:solidFill>
                <a:schemeClr val="bg1"/>
              </a:solidFill>
              <a:latin typeface="Microsoft JhengHei"/>
              <a:ea typeface="Microsoft JhengHei"/>
            </a:endParaRP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7F6152E8-4371-3A3B-B6E3-3FBF09F531C7}"/>
              </a:ext>
            </a:extLst>
          </p:cNvPr>
          <p:cNvSpPr txBox="1"/>
          <p:nvPr/>
        </p:nvSpPr>
        <p:spPr>
          <a:xfrm>
            <a:off x="1635684" y="7353604"/>
            <a:ext cx="13484460" cy="39015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,Sans-Serif"/>
              <a:buChar char="Ø"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台灣能源</a:t>
            </a:r>
            <a:r>
              <a:rPr 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98%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仰賴火力發電，在維持永續方面面臨挑戰。而海洋能源作為全球趨勢之一，海島國台灣具有天然優勢。</a:t>
            </a:r>
            <a:endParaRPr 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algn="just">
              <a:lnSpc>
                <a:spcPct val="150000"/>
              </a:lnSpc>
              <a:buFont typeface="Wingdings,Sans-Serif"/>
              <a:buChar char="Ø"/>
            </a:pP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VIV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裝置作為海流、河流發電中一項正在發展中的變革性新技術。其驅動力為流體通過鈍體之渦流散逸產生的振盪升力 </a:t>
            </a:r>
            <a:r>
              <a:rPr 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(lift)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algn="just">
              <a:lnSpc>
                <a:spcPct val="150000"/>
              </a:lnSpc>
              <a:buFont typeface="Wingdings,Sans-Serif"/>
              <a:buChar char="Ø"/>
            </a:pPr>
            <a:r>
              <a:rPr lang="zh-TW" altLang="en-US" sz="280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尾流馳振是流體動力學的現象，結構因流動分離和旋渦而振動。特別適合串聯排列的柱體，利用尾流引致後方柱體振動，形成有效的能量收集方式。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44" name="矩形: 圓角 47">
            <a:extLst>
              <a:ext uri="{FF2B5EF4-FFF2-40B4-BE49-F238E27FC236}">
                <a16:creationId xmlns:a16="http://schemas.microsoft.com/office/drawing/2014/main" id="{50496E08-D507-4576-1FCB-05EBD1F63999}"/>
              </a:ext>
            </a:extLst>
          </p:cNvPr>
          <p:cNvSpPr/>
          <p:nvPr/>
        </p:nvSpPr>
        <p:spPr>
          <a:xfrm>
            <a:off x="1287928" y="35375228"/>
            <a:ext cx="28503353" cy="496663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TW" sz="2800">
              <a:solidFill>
                <a:srgbClr val="202124"/>
              </a:solidFill>
              <a:latin typeface="微軟正黑體"/>
              <a:ea typeface="微軟正黑體"/>
            </a:endParaRPr>
          </a:p>
        </p:txBody>
      </p:sp>
      <p:sp>
        <p:nvSpPr>
          <p:cNvPr id="1045" name="流程圖: 換頁接點 1038">
            <a:extLst>
              <a:ext uri="{FF2B5EF4-FFF2-40B4-BE49-F238E27FC236}">
                <a16:creationId xmlns:a16="http://schemas.microsoft.com/office/drawing/2014/main" id="{8FDE39E6-9D14-6E3A-336B-5AFC302F886F}"/>
              </a:ext>
            </a:extLst>
          </p:cNvPr>
          <p:cNvSpPr/>
          <p:nvPr/>
        </p:nvSpPr>
        <p:spPr>
          <a:xfrm rot="16200000">
            <a:off x="-1494726" y="37318956"/>
            <a:ext cx="4966636" cy="1079171"/>
          </a:xfrm>
          <a:prstGeom prst="flowChartOffpageConnector">
            <a:avLst/>
          </a:prstGeom>
          <a:solidFill>
            <a:schemeClr val="tx2">
              <a:lumMod val="75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/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303C3357-DEB9-FA05-8A67-401B8EC1B251}"/>
              </a:ext>
            </a:extLst>
          </p:cNvPr>
          <p:cNvSpPr txBox="1"/>
          <p:nvPr/>
        </p:nvSpPr>
        <p:spPr>
          <a:xfrm>
            <a:off x="591407" y="36273491"/>
            <a:ext cx="720000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TW" altLang="en-US" sz="4000" b="1">
                <a:solidFill>
                  <a:srgbClr val="FFFFFF"/>
                </a:solidFill>
                <a:latin typeface="Microsoft JhengHei"/>
                <a:ea typeface="Microsoft JhengHei"/>
                <a:cs typeface="+mn-lt"/>
              </a:rPr>
              <a:t>結論及建議</a:t>
            </a:r>
            <a:endParaRPr lang="en-US" sz="4000" b="1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1053" name="文字方塊 1052">
            <a:extLst>
              <a:ext uri="{FF2B5EF4-FFF2-40B4-BE49-F238E27FC236}">
                <a16:creationId xmlns:a16="http://schemas.microsoft.com/office/drawing/2014/main" id="{3596B642-90C4-DA48-A1B9-BC1D08BDBFFF}"/>
              </a:ext>
            </a:extLst>
          </p:cNvPr>
          <p:cNvSpPr txBox="1"/>
          <p:nvPr/>
        </p:nvSpPr>
        <p:spPr>
          <a:xfrm>
            <a:off x="1930645" y="35569643"/>
            <a:ext cx="27718236" cy="4537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 rt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zh-HK" sz="2800" b="0" i="0" u="none" strike="noStrike">
                <a:solidFill>
                  <a:srgbClr val="20212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當圓柱間距比超過</a:t>
            </a:r>
            <a:r>
              <a:rPr lang="en-US" altLang="zh-HK" sz="2800" b="0" i="0" u="none" strike="noStrike">
                <a:solidFill>
                  <a:srgbClr val="20212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1.5</a:t>
            </a:r>
            <a:r>
              <a:rPr lang="zh-TW" altLang="zh-HK" sz="2800" b="0" i="0" u="none" strike="noStrike">
                <a:solidFill>
                  <a:srgbClr val="20212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後，第二個圓柱的升力係數會高於第一個圓柱，然後保持一定的比例並趨向平緩，而在Re=300時，則會出現較不規律的變化。這部分可透過調整圓柱的間距比來做更深入的討論。</a:t>
            </a:r>
            <a:r>
              <a:rPr lang="en-US" altLang="zh-HK" sz="2800" b="0" i="0">
                <a:solidFill>
                  <a:srgbClr val="20212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​</a:t>
            </a:r>
            <a:endParaRPr lang="en-US" altLang="zh-HK" sz="2800" b="0" i="0">
              <a:solidFill>
                <a:srgbClr val="00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algn="l" rt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zh-HK" sz="2800" b="0" i="0" u="none" strike="noStrike">
                <a:solidFill>
                  <a:srgbClr val="20212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在不同的雷諾數下，圓柱之間的位移變化量並不明顯，除了</a:t>
            </a:r>
            <a:r>
              <a:rPr lang="en-US" altLang="zh-HK" sz="2800" b="0" i="0" u="none" strike="noStrike">
                <a:solidFill>
                  <a:srgbClr val="20212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Re=300</a:t>
            </a:r>
            <a:r>
              <a:rPr lang="zh-TW" altLang="zh-HK" sz="2800" b="0" i="0" u="none" strike="noStrike">
                <a:solidFill>
                  <a:srgbClr val="20212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，也許是</a:t>
            </a:r>
            <a:r>
              <a:rPr lang="zh-TW" altLang="zh-HK" sz="2800" b="0" i="0" u="none" strike="noStrike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網格設定的不夠密集，導致數據並不精確，後續可以考慮將網格加密。</a:t>
            </a:r>
            <a:r>
              <a:rPr lang="zh-TW" altLang="zh-HK" sz="2800" b="0" i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​</a:t>
            </a:r>
          </a:p>
          <a:p>
            <a:pPr marL="457200" indent="-457200" algn="l" rt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zh-HK" sz="2800" b="0" i="0" u="none" strike="noStrike">
                <a:solidFill>
                  <a:srgbClr val="20212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第一個圓柱在不同情況下振盪頻率皆為一定值，而第二個圓柱受</a:t>
            </a:r>
            <a:r>
              <a:rPr lang="zh-TW" altLang="zh-HK" sz="2800" b="0" i="0" u="none" strike="noStrike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尾流馳振</a:t>
            </a:r>
            <a:r>
              <a:rPr lang="zh-TW" altLang="zh-HK" sz="2800" b="0" i="0" u="none" strike="noStrike">
                <a:solidFill>
                  <a:srgbClr val="20212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影會響導致在不同圓柱間距比出現極值，此</a:t>
            </a:r>
            <a:r>
              <a:rPr lang="zh-TW" altLang="zh-HK" sz="2800" b="0" i="0" u="none" strike="noStrike">
                <a:solidFill>
                  <a:srgbClr val="2021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極值會與升力係數及位移的最大值</a:t>
            </a:r>
            <a:br>
              <a:rPr lang="en-GB" altLang="zh-TW" sz="2800" b="0" i="0" u="none" strike="noStrike">
                <a:solidFill>
                  <a:srgbClr val="2021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zh-HK" sz="2800" b="0" i="0" u="none" strike="noStrike">
                <a:solidFill>
                  <a:srgbClr val="2021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之圓柱間距比有所關聯，惟</a:t>
            </a:r>
            <a:r>
              <a:rPr lang="en-US" altLang="zh-HK" sz="2800" b="0" i="0" u="none" strike="noStrike">
                <a:solidFill>
                  <a:srgbClr val="2021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Re=100有所</a:t>
            </a:r>
            <a:r>
              <a:rPr lang="zh-TW" altLang="zh-HK" sz="2800" b="0" i="0" u="none" strike="noStrike">
                <a:solidFill>
                  <a:srgbClr val="2021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不同，其原因可能跟低雷諾數的黏性效應導致的尾流馳振特性產生變化。</a:t>
            </a:r>
            <a:r>
              <a:rPr lang="en-US" altLang="zh-HK" sz="2800" b="0" i="0">
                <a:solidFill>
                  <a:srgbClr val="20212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​</a:t>
            </a:r>
            <a:endParaRPr lang="en-US" altLang="zh-HK" sz="2800" b="0" i="0">
              <a:solidFill>
                <a:srgbClr val="00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algn="l" rt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zh-HK" sz="2800" b="0" i="0" u="none" strike="noStrike">
                <a:solidFill>
                  <a:srgbClr val="20212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但是升力係數與位移兩者關聯性並不高，即在位移變大的情況下並不等於振幅也會變大。</a:t>
            </a:r>
            <a:r>
              <a:rPr lang="en-US" altLang="zh-HK" sz="2800" b="0" i="0">
                <a:solidFill>
                  <a:srgbClr val="20212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​</a:t>
            </a:r>
            <a:endParaRPr lang="en-US" altLang="zh-HK" sz="2800" b="0" i="0">
              <a:solidFill>
                <a:srgbClr val="00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algn="l" rt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zh-HK" sz="2800" b="0" i="0" u="none" strike="noStrike">
                <a:solidFill>
                  <a:srgbClr val="20212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可以考慮改變第二個圓柱的質量或不同U*案例來探討是否能更進一步提升效率。</a:t>
            </a:r>
            <a:endParaRPr lang="en-US" altLang="zh-HK" sz="2800" b="0" i="0">
              <a:solidFill>
                <a:srgbClr val="00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15B8BCA8-E06A-0D06-18F5-C8F45606FB52}"/>
              </a:ext>
            </a:extLst>
          </p:cNvPr>
          <p:cNvGrpSpPr/>
          <p:nvPr/>
        </p:nvGrpSpPr>
        <p:grpSpPr>
          <a:xfrm>
            <a:off x="26155862" y="37234338"/>
            <a:ext cx="3416256" cy="2962221"/>
            <a:chOff x="24419900" y="36407681"/>
            <a:chExt cx="5253548" cy="3624263"/>
          </a:xfrm>
        </p:grpSpPr>
        <p:grpSp>
          <p:nvGrpSpPr>
            <p:cNvPr id="1077" name="群組 1076">
              <a:extLst>
                <a:ext uri="{FF2B5EF4-FFF2-40B4-BE49-F238E27FC236}">
                  <a16:creationId xmlns:a16="http://schemas.microsoft.com/office/drawing/2014/main" id="{FFCB4222-B85B-4C80-9795-646617A3781F}"/>
                </a:ext>
              </a:extLst>
            </p:cNvPr>
            <p:cNvGrpSpPr/>
            <p:nvPr/>
          </p:nvGrpSpPr>
          <p:grpSpPr>
            <a:xfrm>
              <a:off x="24419900" y="36407681"/>
              <a:ext cx="5253548" cy="3624263"/>
              <a:chOff x="24419900" y="36407681"/>
              <a:chExt cx="5253548" cy="3624263"/>
            </a:xfrm>
          </p:grpSpPr>
          <p:sp>
            <p:nvSpPr>
              <p:cNvPr id="1055" name="矩形: 圓角 47">
                <a:extLst>
                  <a:ext uri="{FF2B5EF4-FFF2-40B4-BE49-F238E27FC236}">
                    <a16:creationId xmlns:a16="http://schemas.microsoft.com/office/drawing/2014/main" id="{F99CCF37-FAFC-F649-0D20-CECCF71860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980250" y="36407683"/>
                <a:ext cx="4693198" cy="351473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457200" indent="-457200">
                  <a:lnSpc>
                    <a:spcPct val="150000"/>
                  </a:lnSpc>
                  <a:buFont typeface="Wingdings"/>
                  <a:buChar char="Ø"/>
                </a:pPr>
                <a:endParaRPr lang="zh-TW" altLang="en-US" sz="280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lt"/>
                </a:endParaRPr>
              </a:p>
            </p:txBody>
          </p:sp>
          <p:sp>
            <p:nvSpPr>
              <p:cNvPr id="1040" name="流程圖: 換頁接點 1039">
                <a:extLst>
                  <a:ext uri="{FF2B5EF4-FFF2-40B4-BE49-F238E27FC236}">
                    <a16:creationId xmlns:a16="http://schemas.microsoft.com/office/drawing/2014/main" id="{A542F842-28AE-82E2-25DC-ED1341BBE277}"/>
                  </a:ext>
                </a:extLst>
              </p:cNvPr>
              <p:cNvSpPr/>
              <p:nvPr/>
            </p:nvSpPr>
            <p:spPr>
              <a:xfrm rot="16200000">
                <a:off x="23188418" y="37643047"/>
                <a:ext cx="3514732" cy="1043999"/>
              </a:xfrm>
              <a:prstGeom prst="flowChartOffpageConnector">
                <a:avLst/>
              </a:prstGeom>
              <a:solidFill>
                <a:schemeClr val="tx2">
                  <a:lumMod val="75000"/>
                </a:schemeClr>
              </a:solidFill>
              <a:ln w="28575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HK" altLang="en-US"/>
              </a:p>
            </p:txBody>
          </p:sp>
          <p:sp>
            <p:nvSpPr>
              <p:cNvPr id="1037" name="文字方塊 1036">
                <a:extLst>
                  <a:ext uri="{FF2B5EF4-FFF2-40B4-BE49-F238E27FC236}">
                    <a16:creationId xmlns:a16="http://schemas.microsoft.com/office/drawing/2014/main" id="{D10EF8B3-E0C2-FADA-D54E-FCD7EE2DF40D}"/>
                  </a:ext>
                </a:extLst>
              </p:cNvPr>
              <p:cNvSpPr txBox="1"/>
              <p:nvPr/>
            </p:nvSpPr>
            <p:spPr>
              <a:xfrm>
                <a:off x="24419900" y="36802536"/>
                <a:ext cx="756001" cy="322940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r>
                  <a:rPr lang="zh-TW" altLang="en-US" sz="2800" b="1">
                    <a:solidFill>
                      <a:schemeClr val="bg1">
                        <a:lumMod val="9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渦度場影片</a:t>
                </a:r>
                <a:endParaRPr lang="en-US" altLang="zh-HK" sz="2800" b="1">
                  <a:solidFill>
                    <a:schemeClr val="bg1">
                      <a:lumMod val="9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pic>
          <p:nvPicPr>
            <p:cNvPr id="50" name="圖片 49" descr="一張含有 黑色, 黑暗 的圖片&#10;&#10;自動產生的描述">
              <a:extLst>
                <a:ext uri="{FF2B5EF4-FFF2-40B4-BE49-F238E27FC236}">
                  <a16:creationId xmlns:a16="http://schemas.microsoft.com/office/drawing/2014/main" id="{F87C7D37-5B92-854B-1707-77D269B669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3399" y="36627111"/>
              <a:ext cx="3875278" cy="3083208"/>
            </a:xfrm>
            <a:prstGeom prst="rect">
              <a:avLst/>
            </a:prstGeom>
          </p:spPr>
        </p:pic>
      </p:grpSp>
      <p:sp>
        <p:nvSpPr>
          <p:cNvPr id="1031" name="矩形: 圓角 1030">
            <a:extLst>
              <a:ext uri="{FF2B5EF4-FFF2-40B4-BE49-F238E27FC236}">
                <a16:creationId xmlns:a16="http://schemas.microsoft.com/office/drawing/2014/main" id="{96AD9606-1BF1-D559-4064-330EE975566A}"/>
              </a:ext>
            </a:extLst>
          </p:cNvPr>
          <p:cNvSpPr/>
          <p:nvPr/>
        </p:nvSpPr>
        <p:spPr>
          <a:xfrm>
            <a:off x="23599937" y="9586451"/>
            <a:ext cx="6182058" cy="5788081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457200" indent="-457200">
              <a:buFont typeface="Arial"/>
              <a:buChar char="•"/>
            </a:pPr>
            <a:endParaRPr lang="zh-HK" altLang="en-US" sz="2800">
              <a:solidFill>
                <a:schemeClr val="tx1"/>
              </a:solidFill>
              <a:latin typeface="Microsoft JhengHei"/>
              <a:ea typeface="Microsoft JhengHei"/>
              <a:cs typeface="+mn-lt"/>
            </a:endParaRPr>
          </a:p>
        </p:txBody>
      </p:sp>
      <p:sp>
        <p:nvSpPr>
          <p:cNvPr id="1071" name="流程圖: 換頁接點 1038">
            <a:extLst>
              <a:ext uri="{FF2B5EF4-FFF2-40B4-BE49-F238E27FC236}">
                <a16:creationId xmlns:a16="http://schemas.microsoft.com/office/drawing/2014/main" id="{1CBE0023-8571-C0B3-39E1-72E987FB42DE}"/>
              </a:ext>
            </a:extLst>
          </p:cNvPr>
          <p:cNvSpPr/>
          <p:nvPr/>
        </p:nvSpPr>
        <p:spPr>
          <a:xfrm rot="16200000">
            <a:off x="20521256" y="11886073"/>
            <a:ext cx="5788080" cy="1188831"/>
          </a:xfrm>
          <a:prstGeom prst="flowChartOffpageConnector">
            <a:avLst/>
          </a:prstGeom>
          <a:solidFill>
            <a:schemeClr val="tx2">
              <a:lumMod val="75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/>
          </a:p>
        </p:txBody>
      </p:sp>
      <p:sp>
        <p:nvSpPr>
          <p:cNvPr id="1041" name="文字方塊 1040">
            <a:extLst>
              <a:ext uri="{FF2B5EF4-FFF2-40B4-BE49-F238E27FC236}">
                <a16:creationId xmlns:a16="http://schemas.microsoft.com/office/drawing/2014/main" id="{38118483-2188-C25D-9DBE-6434369BC500}"/>
              </a:ext>
            </a:extLst>
          </p:cNvPr>
          <p:cNvSpPr txBox="1"/>
          <p:nvPr/>
        </p:nvSpPr>
        <p:spPr>
          <a:xfrm>
            <a:off x="22800582" y="11277971"/>
            <a:ext cx="1121079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zh-TW" altLang="zh-HK" sz="4000" b="1" dirty="0">
                <a:solidFill>
                  <a:schemeClr val="bg1"/>
                </a:solidFill>
                <a:latin typeface="Microsoft JhengHei"/>
                <a:ea typeface="Microsoft JhengHei"/>
              </a:rPr>
              <a:t>基本參數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7C73197-3357-7A18-FE1D-07273BA4C6B9}"/>
              </a:ext>
            </a:extLst>
          </p:cNvPr>
          <p:cNvSpPr/>
          <p:nvPr/>
        </p:nvSpPr>
        <p:spPr>
          <a:xfrm>
            <a:off x="1254173" y="15706863"/>
            <a:ext cx="28493548" cy="777423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流程圖: 換頁接點 1031">
            <a:extLst>
              <a:ext uri="{FF2B5EF4-FFF2-40B4-BE49-F238E27FC236}">
                <a16:creationId xmlns:a16="http://schemas.microsoft.com/office/drawing/2014/main" id="{C0D36EF5-09A6-3789-083D-5AFEDD3F68D9}"/>
              </a:ext>
            </a:extLst>
          </p:cNvPr>
          <p:cNvSpPr/>
          <p:nvPr/>
        </p:nvSpPr>
        <p:spPr>
          <a:xfrm rot="16200000">
            <a:off x="-2889170" y="19053008"/>
            <a:ext cx="7775410" cy="1080767"/>
          </a:xfrm>
          <a:prstGeom prst="flowChartOffpageConnector">
            <a:avLst/>
          </a:prstGeom>
          <a:solidFill>
            <a:schemeClr val="tx2">
              <a:lumMod val="75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D081F4BA-10F1-D505-6D55-435944B37DF3}"/>
              </a:ext>
            </a:extLst>
          </p:cNvPr>
          <p:cNvSpPr txBox="1"/>
          <p:nvPr/>
        </p:nvSpPr>
        <p:spPr>
          <a:xfrm>
            <a:off x="591338" y="16771140"/>
            <a:ext cx="720000" cy="671027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4000" b="1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雙圓柱渦度場示意圖</a:t>
            </a:r>
            <a:endParaRPr lang="en-US" altLang="zh-HK" sz="4000" b="1">
              <a:solidFill>
                <a:schemeClr val="bg1">
                  <a:lumMod val="9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HK" altLang="en-US" sz="4000" b="1">
              <a:solidFill>
                <a:schemeClr val="bg1">
                  <a:lumMod val="9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84" name="文字方塊 1">
            <a:extLst>
              <a:ext uri="{FF2B5EF4-FFF2-40B4-BE49-F238E27FC236}">
                <a16:creationId xmlns:a16="http://schemas.microsoft.com/office/drawing/2014/main" id="{C66BDCCB-15EF-9608-0D81-1ACFA986F58D}"/>
              </a:ext>
            </a:extLst>
          </p:cNvPr>
          <p:cNvSpPr txBox="1"/>
          <p:nvPr/>
        </p:nvSpPr>
        <p:spPr>
          <a:xfrm>
            <a:off x="12851022" y="15801491"/>
            <a:ext cx="5534335" cy="5847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3200" b="1" dirty="0">
                <a:latin typeface="微軟正黑體"/>
                <a:ea typeface="微軟正黑體"/>
                <a:cs typeface="Calibri"/>
              </a:rPr>
              <a:t>各間距比的位移與時間關係圖</a:t>
            </a:r>
          </a:p>
        </p:txBody>
      </p:sp>
      <p:grpSp>
        <p:nvGrpSpPr>
          <p:cNvPr id="159" name="群組 158">
            <a:extLst>
              <a:ext uri="{FF2B5EF4-FFF2-40B4-BE49-F238E27FC236}">
                <a16:creationId xmlns:a16="http://schemas.microsoft.com/office/drawing/2014/main" id="{A5278EE4-A335-9FFF-8D32-7B96A18EE563}"/>
              </a:ext>
            </a:extLst>
          </p:cNvPr>
          <p:cNvGrpSpPr/>
          <p:nvPr/>
        </p:nvGrpSpPr>
        <p:grpSpPr>
          <a:xfrm>
            <a:off x="1835067" y="23833922"/>
            <a:ext cx="22030179" cy="11129775"/>
            <a:chOff x="2025567" y="23833922"/>
            <a:chExt cx="22030179" cy="11129775"/>
          </a:xfrm>
        </p:grpSpPr>
        <p:pic>
          <p:nvPicPr>
            <p:cNvPr id="49" name="圖片 48" descr="一張含有 文字, 繪圖, 圖表, 行 的圖片&#10;&#10;自動產生的描述">
              <a:extLst>
                <a:ext uri="{FF2B5EF4-FFF2-40B4-BE49-F238E27FC236}">
                  <a16:creationId xmlns:a16="http://schemas.microsoft.com/office/drawing/2014/main" id="{A186323B-E970-F99B-21BE-735BE29BE806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61636" y="31363697"/>
              <a:ext cx="5421970" cy="3600000"/>
            </a:xfrm>
            <a:prstGeom prst="rect">
              <a:avLst/>
            </a:prstGeom>
          </p:spPr>
        </p:pic>
        <p:pic>
          <p:nvPicPr>
            <p:cNvPr id="52" name="圖片 51" descr="一張含有 文字, 螢幕擷取畫面, 繪圖, 圖表 的圖片&#10;&#10;自動產生的描述">
              <a:extLst>
                <a:ext uri="{FF2B5EF4-FFF2-40B4-BE49-F238E27FC236}">
                  <a16:creationId xmlns:a16="http://schemas.microsoft.com/office/drawing/2014/main" id="{1E38D8BA-E2B5-CD82-469D-9EEF2D814DE0}"/>
                </a:ext>
              </a:extLst>
            </p:cNvPr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097707" y="23833922"/>
              <a:ext cx="5421970" cy="3600000"/>
            </a:xfrm>
            <a:prstGeom prst="rect">
              <a:avLst/>
            </a:prstGeom>
          </p:spPr>
        </p:pic>
        <p:pic>
          <p:nvPicPr>
            <p:cNvPr id="54" name="圖片 53" descr="一張含有 文字, 繪圖, 行, 螢幕擷取畫面 的圖片&#10;&#10;自動產生的描述">
              <a:extLst>
                <a:ext uri="{FF2B5EF4-FFF2-40B4-BE49-F238E27FC236}">
                  <a16:creationId xmlns:a16="http://schemas.microsoft.com/office/drawing/2014/main" id="{08733A0F-850A-14DF-ECDD-5DCE2E212A4B}"/>
                </a:ext>
              </a:extLst>
            </p:cNvPr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097705" y="27617631"/>
              <a:ext cx="5421970" cy="3600000"/>
            </a:xfrm>
            <a:prstGeom prst="rect">
              <a:avLst/>
            </a:prstGeom>
          </p:spPr>
        </p:pic>
        <p:pic>
          <p:nvPicPr>
            <p:cNvPr id="59" name="圖片 58" descr="一張含有 文字, 繪圖, 行, 圖表 的圖片&#10;&#10;自動產生的描述">
              <a:extLst>
                <a:ext uri="{FF2B5EF4-FFF2-40B4-BE49-F238E27FC236}">
                  <a16:creationId xmlns:a16="http://schemas.microsoft.com/office/drawing/2014/main" id="{FB28B306-4750-7F60-A69C-B63DD7BFC9DE}"/>
                </a:ext>
              </a:extLst>
            </p:cNvPr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097705" y="31363697"/>
              <a:ext cx="5421970" cy="3600000"/>
            </a:xfrm>
            <a:prstGeom prst="rect">
              <a:avLst/>
            </a:prstGeom>
          </p:spPr>
        </p:pic>
        <p:pic>
          <p:nvPicPr>
            <p:cNvPr id="63" name="圖片 62">
              <a:extLst>
                <a:ext uri="{FF2B5EF4-FFF2-40B4-BE49-F238E27FC236}">
                  <a16:creationId xmlns:a16="http://schemas.microsoft.com/office/drawing/2014/main" id="{FA9C1F35-A5D4-E3F0-7D24-8AEFEAA440B5}"/>
                </a:ext>
              </a:extLst>
            </p:cNvPr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025567" y="31363697"/>
              <a:ext cx="5421970" cy="3600000"/>
            </a:xfrm>
            <a:prstGeom prst="rect">
              <a:avLst/>
            </a:prstGeom>
          </p:spPr>
        </p:pic>
        <p:pic>
          <p:nvPicPr>
            <p:cNvPr id="1051" name="圖片 1050" descr="一張含有 文字, 螢幕擷取畫面, 繪圖, 行 的圖片&#10;&#10;自動產生的描述">
              <a:extLst>
                <a:ext uri="{FF2B5EF4-FFF2-40B4-BE49-F238E27FC236}">
                  <a16:creationId xmlns:a16="http://schemas.microsoft.com/office/drawing/2014/main" id="{BD8D62A0-9393-7E18-0F3A-BE4CA4E083E5}"/>
                </a:ext>
              </a:extLst>
            </p:cNvPr>
            <p:cNvPicPr>
              <a:picLocks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025567" y="23833922"/>
              <a:ext cx="5421970" cy="3600000"/>
            </a:xfrm>
            <a:prstGeom prst="rect">
              <a:avLst/>
            </a:prstGeom>
          </p:spPr>
        </p:pic>
        <p:pic>
          <p:nvPicPr>
            <p:cNvPr id="1054" name="圖片 1053" descr="一張含有 文字, 螢幕擷取畫面, 繪圖, 行 的圖片&#10;&#10;自動產生的描述">
              <a:extLst>
                <a:ext uri="{FF2B5EF4-FFF2-40B4-BE49-F238E27FC236}">
                  <a16:creationId xmlns:a16="http://schemas.microsoft.com/office/drawing/2014/main" id="{58374EAB-C17C-B534-4063-9069A92C9231}"/>
                </a:ext>
              </a:extLst>
            </p:cNvPr>
            <p:cNvPicPr>
              <a:picLocks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561637" y="23833922"/>
              <a:ext cx="5421970" cy="3600000"/>
            </a:xfrm>
            <a:prstGeom prst="rect">
              <a:avLst/>
            </a:prstGeom>
          </p:spPr>
        </p:pic>
        <p:pic>
          <p:nvPicPr>
            <p:cNvPr id="1056" name="圖片 1055" descr="一張含有 文字, 繪圖, 行, 螢幕擷取畫面 的圖片&#10;&#10;自動產生的描述">
              <a:extLst>
                <a:ext uri="{FF2B5EF4-FFF2-40B4-BE49-F238E27FC236}">
                  <a16:creationId xmlns:a16="http://schemas.microsoft.com/office/drawing/2014/main" id="{B9DEFD7F-DCCF-383C-12D4-27E6EB890E38}"/>
                </a:ext>
              </a:extLst>
            </p:cNvPr>
            <p:cNvPicPr>
              <a:picLocks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561636" y="27617631"/>
              <a:ext cx="5421970" cy="3600000"/>
            </a:xfrm>
            <a:prstGeom prst="rect">
              <a:avLst/>
            </a:prstGeom>
          </p:spPr>
        </p:pic>
        <p:pic>
          <p:nvPicPr>
            <p:cNvPr id="1057" name="圖片 1056" descr="一張含有 文字, 繪圖, 螢幕擷取畫面, 行 的圖片&#10;&#10;自動產生的描述">
              <a:extLst>
                <a:ext uri="{FF2B5EF4-FFF2-40B4-BE49-F238E27FC236}">
                  <a16:creationId xmlns:a16="http://schemas.microsoft.com/office/drawing/2014/main" id="{2D3DBD87-A427-394E-3B91-497D3B1452EF}"/>
                </a:ext>
              </a:extLst>
            </p:cNvPr>
            <p:cNvPicPr>
              <a:picLocks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025567" y="27617631"/>
              <a:ext cx="5421970" cy="3600000"/>
            </a:xfrm>
            <a:prstGeom prst="rect">
              <a:avLst/>
            </a:prstGeom>
          </p:spPr>
        </p:pic>
        <p:pic>
          <p:nvPicPr>
            <p:cNvPr id="31" name="圖片 30" descr="一張含有 文字, 螢幕擷取畫面, 數字, 字型 的圖片&#10;&#10;自動產生的描述">
              <a:extLst>
                <a:ext uri="{FF2B5EF4-FFF2-40B4-BE49-F238E27FC236}">
                  <a16:creationId xmlns:a16="http://schemas.microsoft.com/office/drawing/2014/main" id="{C6F27003-246A-9677-0587-8864C3B16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8633776" y="23833922"/>
              <a:ext cx="5421970" cy="3600000"/>
            </a:xfrm>
            <a:prstGeom prst="rect">
              <a:avLst/>
            </a:prstGeom>
          </p:spPr>
        </p:pic>
        <p:pic>
          <p:nvPicPr>
            <p:cNvPr id="33" name="圖片 32" descr="一張含有 文字, 螢幕擷取畫面, 數字, 行 的圖片&#10;&#10;自動產生的描述">
              <a:extLst>
                <a:ext uri="{FF2B5EF4-FFF2-40B4-BE49-F238E27FC236}">
                  <a16:creationId xmlns:a16="http://schemas.microsoft.com/office/drawing/2014/main" id="{917BC9D7-0AD6-28EC-70CD-E294C7191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8633774" y="27617631"/>
              <a:ext cx="5415143" cy="3600000"/>
            </a:xfrm>
            <a:prstGeom prst="rect">
              <a:avLst/>
            </a:prstGeom>
          </p:spPr>
        </p:pic>
        <p:pic>
          <p:nvPicPr>
            <p:cNvPr id="34" name="圖片 33" descr="一張含有 文字, 螢幕擷取畫面, 數字, 字型 的圖片&#10;&#10;自動產生的描述">
              <a:extLst>
                <a:ext uri="{FF2B5EF4-FFF2-40B4-BE49-F238E27FC236}">
                  <a16:creationId xmlns:a16="http://schemas.microsoft.com/office/drawing/2014/main" id="{C756CCDB-5E2B-9D39-D683-8B8D7D82A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8633773" y="31364543"/>
              <a:ext cx="5421969" cy="3598308"/>
            </a:xfrm>
            <a:prstGeom prst="rect">
              <a:avLst/>
            </a:prstGeom>
          </p:spPr>
        </p:pic>
      </p:grpSp>
      <p:pic>
        <p:nvPicPr>
          <p:cNvPr id="29" name="圖片 28" descr="一張含有 文字, 螢幕擷取畫面, 圓形 的圖片&#10;&#10;自動產生的描述">
            <a:extLst>
              <a:ext uri="{FF2B5EF4-FFF2-40B4-BE49-F238E27FC236}">
                <a16:creationId xmlns:a16="http://schemas.microsoft.com/office/drawing/2014/main" id="{3026B5E5-E1C0-9AE1-4679-9AFA8D2D8E9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1423" y="9786923"/>
            <a:ext cx="5496804" cy="5461793"/>
          </a:xfrm>
          <a:prstGeom prst="rect">
            <a:avLst/>
          </a:prstGeom>
        </p:spPr>
      </p:pic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D38AE365-49D9-2AC2-1C62-8072DC5EC98E}"/>
              </a:ext>
            </a:extLst>
          </p:cNvPr>
          <p:cNvCxnSpPr>
            <a:cxnSpLocks/>
          </p:cNvCxnSpPr>
          <p:nvPr/>
        </p:nvCxnSpPr>
        <p:spPr>
          <a:xfrm>
            <a:off x="-1" y="40643529"/>
            <a:ext cx="30240289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群組 162">
            <a:extLst>
              <a:ext uri="{FF2B5EF4-FFF2-40B4-BE49-F238E27FC236}">
                <a16:creationId xmlns:a16="http://schemas.microsoft.com/office/drawing/2014/main" id="{83E8ECDA-30C9-B022-4F25-9D875343DDE0}"/>
              </a:ext>
            </a:extLst>
          </p:cNvPr>
          <p:cNvGrpSpPr/>
          <p:nvPr/>
        </p:nvGrpSpPr>
        <p:grpSpPr>
          <a:xfrm>
            <a:off x="24352479" y="24282073"/>
            <a:ext cx="5156139" cy="10656008"/>
            <a:chOff x="24415979" y="24282073"/>
            <a:chExt cx="5156139" cy="10656008"/>
          </a:xfrm>
        </p:grpSpPr>
        <p:pic>
          <p:nvPicPr>
            <p:cNvPr id="1042" name="Picture 14">
              <a:extLst>
                <a:ext uri="{FF2B5EF4-FFF2-40B4-BE49-F238E27FC236}">
                  <a16:creationId xmlns:a16="http://schemas.microsoft.com/office/drawing/2014/main" id="{98F6BF70-12A3-4C4B-192B-CB0254366FA1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607"/>
            <a:stretch/>
          </p:blipFill>
          <p:spPr bwMode="auto">
            <a:xfrm>
              <a:off x="24454153" y="24282073"/>
              <a:ext cx="5117965" cy="36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6" name="Picture 16">
              <a:extLst>
                <a:ext uri="{FF2B5EF4-FFF2-40B4-BE49-F238E27FC236}">
                  <a16:creationId xmlns:a16="http://schemas.microsoft.com/office/drawing/2014/main" id="{E19A65C1-C6CE-C4ED-AC52-880CA0BABE94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154"/>
            <a:stretch/>
          </p:blipFill>
          <p:spPr bwMode="auto">
            <a:xfrm>
              <a:off x="24429580" y="27810077"/>
              <a:ext cx="5142538" cy="36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0" name="Picture 18">
              <a:extLst>
                <a:ext uri="{FF2B5EF4-FFF2-40B4-BE49-F238E27FC236}">
                  <a16:creationId xmlns:a16="http://schemas.microsoft.com/office/drawing/2014/main" id="{43859BF3-A068-4D9A-C286-6F3D7B3E7B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903"/>
            <a:stretch/>
          </p:blipFill>
          <p:spPr bwMode="auto">
            <a:xfrm>
              <a:off x="24415979" y="31338081"/>
              <a:ext cx="5156139" cy="36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D448BC26-8AC8-A9A8-E825-CFCB64C5A723}"/>
                </a:ext>
              </a:extLst>
            </p:cNvPr>
            <p:cNvSpPr txBox="1"/>
            <p:nvPr/>
          </p:nvSpPr>
          <p:spPr>
            <a:xfrm>
              <a:off x="27937897" y="24722589"/>
              <a:ext cx="140079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altLang="zh-HK" sz="2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Re100</a:t>
              </a:r>
            </a:p>
            <a:p>
              <a:pPr algn="r"/>
              <a:r>
                <a:rPr lang="en-GB" altLang="zh-HK" sz="2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L/D=4.0</a:t>
              </a:r>
              <a:endParaRPr lang="zh-HK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09C1D783-71CF-9D9C-CE39-238AD6E4A098}"/>
                </a:ext>
              </a:extLst>
            </p:cNvPr>
            <p:cNvSpPr txBox="1"/>
            <p:nvPr/>
          </p:nvSpPr>
          <p:spPr>
            <a:xfrm>
              <a:off x="27912497" y="28258187"/>
              <a:ext cx="140079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altLang="zh-HK" sz="2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Re200</a:t>
              </a:r>
            </a:p>
            <a:p>
              <a:pPr algn="r"/>
              <a:r>
                <a:rPr lang="en-GB" altLang="zh-HK" sz="2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L/D=4.5</a:t>
              </a:r>
              <a:endParaRPr lang="zh-HK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F3EFD0CF-53A8-66FB-928D-BD5F3DAEA1A8}"/>
                </a:ext>
              </a:extLst>
            </p:cNvPr>
            <p:cNvSpPr txBox="1"/>
            <p:nvPr/>
          </p:nvSpPr>
          <p:spPr>
            <a:xfrm>
              <a:off x="27899797" y="31772346"/>
              <a:ext cx="140079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altLang="zh-HK" sz="2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Re300</a:t>
              </a:r>
            </a:p>
            <a:p>
              <a:pPr algn="r"/>
              <a:r>
                <a:rPr lang="en-GB" altLang="zh-HK" sz="2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L/D=2.0</a:t>
              </a:r>
              <a:endParaRPr lang="zh-HK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28" name="矩形 1027">
                <a:extLst>
                  <a:ext uri="{FF2B5EF4-FFF2-40B4-BE49-F238E27FC236}">
                    <a16:creationId xmlns:a16="http://schemas.microsoft.com/office/drawing/2014/main" id="{E6C86ACD-6B72-3C1C-D45B-0BA63C38309D}"/>
                  </a:ext>
                </a:extLst>
              </p:cNvPr>
              <p:cNvSpPr/>
              <p:nvPr/>
            </p:nvSpPr>
            <p:spPr>
              <a:xfrm>
                <a:off x="26464259" y="9621009"/>
                <a:ext cx="3306793" cy="66858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sz="2000"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zh-TW" altLang="en-US" sz="2000" i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𝑈𝐷</m:t>
                          </m:r>
                        </m:num>
                        <m:den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𝜐</m:t>
                          </m:r>
                        </m:den>
                      </m:f>
                    </m:oMath>
                  </m:oMathPara>
                </a14:m>
                <a:endParaRPr lang="zh-TW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>
          <p:sp>
            <p:nvSpPr>
              <p:cNvPr id="1028" name="矩形 1027">
                <a:extLst>
                  <a:ext uri="{FF2B5EF4-FFF2-40B4-BE49-F238E27FC236}">
                    <a16:creationId xmlns:a16="http://schemas.microsoft.com/office/drawing/2014/main" id="{E6C86ACD-6B72-3C1C-D45B-0BA63C3830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64259" y="9621009"/>
                <a:ext cx="3306793" cy="66858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9" name="矩形 32">
                <a:extLst>
                  <a:ext uri="{FF2B5EF4-FFF2-40B4-BE49-F238E27FC236}">
                    <a16:creationId xmlns:a16="http://schemas.microsoft.com/office/drawing/2014/main" id="{BBF9A0C2-A8D0-6DA6-E701-F159EB5F3CEA}"/>
                  </a:ext>
                </a:extLst>
              </p:cNvPr>
              <p:cNvSpPr/>
              <p:nvPr/>
            </p:nvSpPr>
            <p:spPr>
              <a:xfrm>
                <a:off x="26714952" y="10465008"/>
                <a:ext cx="3048480" cy="722634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𝜌</m:t>
                          </m:r>
                          <m:sSup>
                            <m:sSup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zh-TW" alt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zh-TW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>
          <p:sp>
            <p:nvSpPr>
              <p:cNvPr id="1029" name="矩形 32">
                <a:extLst>
                  <a:ext uri="{FF2B5EF4-FFF2-40B4-BE49-F238E27FC236}">
                    <a16:creationId xmlns:a16="http://schemas.microsoft.com/office/drawing/2014/main" id="{BBF9A0C2-A8D0-6DA6-E701-F159EB5F3C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14952" y="10465008"/>
                <a:ext cx="3048480" cy="72263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0" name="矩形 33">
                <a:extLst>
                  <a:ext uri="{FF2B5EF4-FFF2-40B4-BE49-F238E27FC236}">
                    <a16:creationId xmlns:a16="http://schemas.microsoft.com/office/drawing/2014/main" id="{91CF051A-4516-1CAF-1FFB-BD0A1DD085A2}"/>
                  </a:ext>
                </a:extLst>
              </p:cNvPr>
              <p:cNvSpPr/>
              <p:nvPr/>
            </p:nvSpPr>
            <p:spPr>
              <a:xfrm>
                <a:off x="24268875" y="11317912"/>
                <a:ext cx="7891642" cy="722634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𝜌</m:t>
                          </m:r>
                          <m:sSup>
                            <m:sSup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zh-TW" alt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>
          <p:sp>
            <p:nvSpPr>
              <p:cNvPr id="1030" name="矩形 33">
                <a:extLst>
                  <a:ext uri="{FF2B5EF4-FFF2-40B4-BE49-F238E27FC236}">
                    <a16:creationId xmlns:a16="http://schemas.microsoft.com/office/drawing/2014/main" id="{91CF051A-4516-1CAF-1FFB-BD0A1DD085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68875" y="11317912"/>
                <a:ext cx="7891642" cy="72263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50F01316-AAC5-8FDF-C00E-A5D4CC72EBE1}"/>
                  </a:ext>
                </a:extLst>
              </p:cNvPr>
              <p:cNvSpPr/>
              <p:nvPr/>
            </p:nvSpPr>
            <p:spPr>
              <a:xfrm>
                <a:off x="27081365" y="12193992"/>
                <a:ext cx="2018248" cy="722505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zh-TW" altLang="en-US" sz="2000" i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zh-TW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50F01316-AAC5-8FDF-C00E-A5D4CC72EB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1365" y="12193992"/>
                <a:ext cx="2018248" cy="72250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694A83D6-3C76-7E5F-D9DE-688CC68A485A}"/>
                  </a:ext>
                </a:extLst>
              </p:cNvPr>
              <p:cNvSpPr/>
              <p:nvPr/>
            </p:nvSpPr>
            <p:spPr>
              <a:xfrm>
                <a:off x="27261019" y="12947135"/>
                <a:ext cx="2677771" cy="763414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type m:val="lin"/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rad>
                        </m:num>
                        <m:den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zh-TW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694A83D6-3C76-7E5F-D9DE-688CC68A48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1019" y="12947135"/>
                <a:ext cx="2677771" cy="76341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0C5EEF2A-EE53-8B99-B0E7-2FA85368B1B0}"/>
                  </a:ext>
                </a:extLst>
              </p:cNvPr>
              <p:cNvSpPr txBox="1"/>
              <p:nvPr/>
            </p:nvSpPr>
            <p:spPr>
              <a:xfrm>
                <a:off x="24841200" y="13971682"/>
                <a:ext cx="6527800" cy="57631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2000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GB" altLang="zh-HK" sz="2000" b="0" i="1" smtClean="0">
                          <a:latin typeface="Cambria Math" panose="02040503050406030204" pitchFamily="18" charset="0"/>
                        </a:rPr>
                        <m:t>𝑆𝑡</m:t>
                      </m:r>
                      <m:r>
                        <a:rPr lang="en-GB" altLang="zh-HK" sz="2000" b="0" i="1" smtClean="0">
                          <a:latin typeface="Cambria Math" panose="02040503050406030204" pitchFamily="18" charset="0"/>
                        </a:rPr>
                        <m:t>.=</m:t>
                      </m:r>
                      <m:r>
                        <a:rPr lang="en-GB" altLang="zh-HK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f>
                        <m:fPr>
                          <m:ctrlPr>
                            <a:rPr lang="en-GB" altLang="zh-HK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zh-HK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en-GB" altLang="zh-HK" sz="20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  <m:r>
                        <a:rPr lang="en-GB" altLang="zh-HK" sz="2000" b="0" i="1" smtClean="0"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zh-HK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0C5EEF2A-EE53-8B99-B0E7-2FA85368B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1200" y="13971682"/>
                <a:ext cx="6527800" cy="57631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1">
            <a:extLst>
              <a:ext uri="{FF2B5EF4-FFF2-40B4-BE49-F238E27FC236}">
                <a16:creationId xmlns:a16="http://schemas.microsoft.com/office/drawing/2014/main" id="{D431918A-C963-B016-E54A-8110F608AACF}"/>
              </a:ext>
            </a:extLst>
          </p:cNvPr>
          <p:cNvSpPr txBox="1"/>
          <p:nvPr/>
        </p:nvSpPr>
        <p:spPr>
          <a:xfrm>
            <a:off x="23770601" y="14627020"/>
            <a:ext cx="60316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HK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本案例採用</a:t>
            </a:r>
            <a:endParaRPr lang="en-US" altLang="zh-HK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HK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 = 1m/s</a:t>
            </a:r>
            <a:r>
              <a:rPr lang="zh-HK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HK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 = 2m</a:t>
            </a:r>
            <a:r>
              <a:rPr lang="zh-HK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HK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HK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 = 5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HK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 = 30 kg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HK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U*= 7.695</a:t>
            </a:r>
            <a:endParaRPr lang="zh-HK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5E8F70BB-CEE5-6E66-D236-E2F0C1F756D5}"/>
              </a:ext>
            </a:extLst>
          </p:cNvPr>
          <p:cNvSpPr txBox="1"/>
          <p:nvPr/>
        </p:nvSpPr>
        <p:spPr>
          <a:xfrm>
            <a:off x="24208145" y="9746939"/>
            <a:ext cx="304847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雷諾數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升力係數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阻力係數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無因次速度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彈簧自然振盪頻率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Strouhal number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64" name="圖片 1063">
            <a:extLst>
              <a:ext uri="{FF2B5EF4-FFF2-40B4-BE49-F238E27FC236}">
                <a16:creationId xmlns:a16="http://schemas.microsoft.com/office/drawing/2014/main" id="{2C5988BC-5707-D4E6-8279-0F9976F47947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44"/>
          <a:stretch/>
        </p:blipFill>
        <p:spPr>
          <a:xfrm>
            <a:off x="24177854" y="4080866"/>
            <a:ext cx="4796648" cy="4532466"/>
          </a:xfrm>
          <a:prstGeom prst="rect">
            <a:avLst/>
          </a:prstGeom>
        </p:spPr>
      </p:pic>
      <p:sp>
        <p:nvSpPr>
          <p:cNvPr id="1063" name="文字方塊 1062">
            <a:extLst>
              <a:ext uri="{FF2B5EF4-FFF2-40B4-BE49-F238E27FC236}">
                <a16:creationId xmlns:a16="http://schemas.microsoft.com/office/drawing/2014/main" id="{97F7E5B3-6CC6-14A7-3EAA-B43A0E253AA4}"/>
              </a:ext>
            </a:extLst>
          </p:cNvPr>
          <p:cNvSpPr txBox="1"/>
          <p:nvPr/>
        </p:nvSpPr>
        <p:spPr>
          <a:xfrm>
            <a:off x="19222875" y="8661321"/>
            <a:ext cx="863882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800" dirty="0">
                <a:latin typeface="Microsoft JhengHei"/>
                <a:ea typeface="新細明體"/>
                <a:cs typeface="Segoe UI"/>
              </a:rPr>
              <a:t>VIV</a:t>
            </a:r>
            <a:r>
              <a:rPr lang="zh-TW" sz="2800" dirty="0">
                <a:latin typeface="Microsoft JhengHei"/>
                <a:ea typeface="Microsoft JhengHei"/>
                <a:cs typeface="Segoe UI"/>
              </a:rPr>
              <a:t>擷能系統示意圖​</a:t>
            </a:r>
            <a:r>
              <a:rPr lang="en-US" altLang="zh-TW" sz="2800" dirty="0">
                <a:latin typeface="Microsoft JhengHei"/>
                <a:ea typeface="新細明體"/>
                <a:cs typeface="Segoe UI"/>
              </a:rPr>
              <a:t>(Zhang et al., 2017)</a:t>
            </a:r>
            <a:endParaRPr lang="en-US" sz="2800" dirty="0">
              <a:latin typeface="Microsoft JhengHei"/>
              <a:ea typeface="新細明體"/>
            </a:endParaRPr>
          </a:p>
        </p:txBody>
      </p:sp>
      <p:grpSp>
        <p:nvGrpSpPr>
          <p:cNvPr id="1069" name="群組 1068">
            <a:extLst>
              <a:ext uri="{FF2B5EF4-FFF2-40B4-BE49-F238E27FC236}">
                <a16:creationId xmlns:a16="http://schemas.microsoft.com/office/drawing/2014/main" id="{5331DB2E-092F-1443-867F-825A147B4F8C}"/>
              </a:ext>
            </a:extLst>
          </p:cNvPr>
          <p:cNvGrpSpPr/>
          <p:nvPr/>
        </p:nvGrpSpPr>
        <p:grpSpPr>
          <a:xfrm>
            <a:off x="17638786" y="4076437"/>
            <a:ext cx="5458320" cy="4691010"/>
            <a:chOff x="17582146" y="4068112"/>
            <a:chExt cx="5457742" cy="4661037"/>
          </a:xfrm>
        </p:grpSpPr>
        <p:pic>
          <p:nvPicPr>
            <p:cNvPr id="1067" name="圖片 1066">
              <a:extLst>
                <a:ext uri="{FF2B5EF4-FFF2-40B4-BE49-F238E27FC236}">
                  <a16:creationId xmlns:a16="http://schemas.microsoft.com/office/drawing/2014/main" id="{80D69194-10A0-A54C-4A47-2BFF0F9709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00" b="2424"/>
            <a:stretch/>
          </p:blipFill>
          <p:spPr>
            <a:xfrm>
              <a:off x="17582146" y="4068112"/>
              <a:ext cx="5457742" cy="4547021"/>
            </a:xfrm>
            <a:prstGeom prst="rect">
              <a:avLst/>
            </a:prstGeom>
          </p:spPr>
        </p:pic>
        <p:sp>
          <p:nvSpPr>
            <p:cNvPr id="1068" name="矩形 1067">
              <a:extLst>
                <a:ext uri="{FF2B5EF4-FFF2-40B4-BE49-F238E27FC236}">
                  <a16:creationId xmlns:a16="http://schemas.microsoft.com/office/drawing/2014/main" id="{FAD791B7-5B27-1934-87FB-EC115D2C3EA5}"/>
                </a:ext>
              </a:extLst>
            </p:cNvPr>
            <p:cNvSpPr/>
            <p:nvPr/>
          </p:nvSpPr>
          <p:spPr>
            <a:xfrm>
              <a:off x="20424101" y="8426497"/>
              <a:ext cx="435649" cy="3026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3" name="矩形 132">
            <a:extLst>
              <a:ext uri="{FF2B5EF4-FFF2-40B4-BE49-F238E27FC236}">
                <a16:creationId xmlns:a16="http://schemas.microsoft.com/office/drawing/2014/main" id="{9A80378D-E91C-1872-DFE7-E48F540FD666}"/>
              </a:ext>
            </a:extLst>
          </p:cNvPr>
          <p:cNvSpPr/>
          <p:nvPr/>
        </p:nvSpPr>
        <p:spPr>
          <a:xfrm>
            <a:off x="18594287" y="9903200"/>
            <a:ext cx="589102" cy="5287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FF7FD862-C3F9-E697-97EB-CBA97118CD95}"/>
              </a:ext>
            </a:extLst>
          </p:cNvPr>
          <p:cNvSpPr/>
          <p:nvPr/>
        </p:nvSpPr>
        <p:spPr>
          <a:xfrm>
            <a:off x="19632131" y="9903200"/>
            <a:ext cx="589102" cy="5287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DA4DD5C2-C053-F235-4CB3-78133A546598}"/>
              </a:ext>
            </a:extLst>
          </p:cNvPr>
          <p:cNvSpPr/>
          <p:nvPr/>
        </p:nvSpPr>
        <p:spPr>
          <a:xfrm>
            <a:off x="22012931" y="12182969"/>
            <a:ext cx="390427" cy="5287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D1F768F8-3DAC-EDBF-EB6A-074BA36533FF}"/>
                  </a:ext>
                </a:extLst>
              </p:cNvPr>
              <p:cNvSpPr/>
              <p:nvPr/>
            </p:nvSpPr>
            <p:spPr>
              <a:xfrm>
                <a:off x="19173825" y="14378373"/>
                <a:ext cx="232660" cy="52872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D1F768F8-3DAC-EDBF-EB6A-074BA36533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3825" y="14378373"/>
                <a:ext cx="232660" cy="528724"/>
              </a:xfrm>
              <a:prstGeom prst="rect">
                <a:avLst/>
              </a:prstGeom>
              <a:blipFill>
                <a:blip r:embed="rId29"/>
                <a:stretch>
                  <a:fillRect l="-250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4990C819-C630-4C7A-7B46-A448CEE8C833}"/>
                  </a:ext>
                </a:extLst>
              </p:cNvPr>
              <p:cNvSpPr txBox="1"/>
              <p:nvPr/>
            </p:nvSpPr>
            <p:spPr>
              <a:xfrm>
                <a:off x="18601131" y="9911925"/>
                <a:ext cx="582258" cy="523220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2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4990C819-C630-4C7A-7B46-A448CEE8C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1131" y="9911925"/>
                <a:ext cx="582258" cy="52322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1826F7E9-B6F5-BDD3-254D-5197D7E8AA26}"/>
                  </a:ext>
                </a:extLst>
              </p:cNvPr>
              <p:cNvSpPr txBox="1"/>
              <p:nvPr/>
            </p:nvSpPr>
            <p:spPr>
              <a:xfrm>
                <a:off x="19578696" y="9911925"/>
                <a:ext cx="582258" cy="523220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𝐾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2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1826F7E9-B6F5-BDD3-254D-5197D7E8A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8696" y="9911925"/>
                <a:ext cx="582258" cy="52322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文字方塊 138">
                <a:extLst>
                  <a:ext uri="{FF2B5EF4-FFF2-40B4-BE49-F238E27FC236}">
                    <a16:creationId xmlns:a16="http://schemas.microsoft.com/office/drawing/2014/main" id="{12E38FCC-44FA-1AB2-49FF-ABEA8EA2182E}"/>
                  </a:ext>
                </a:extLst>
              </p:cNvPr>
              <p:cNvSpPr txBox="1"/>
              <p:nvPr/>
            </p:nvSpPr>
            <p:spPr>
              <a:xfrm>
                <a:off x="21954231" y="12193992"/>
                <a:ext cx="35123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139" name="文字方塊 138">
                <a:extLst>
                  <a:ext uri="{FF2B5EF4-FFF2-40B4-BE49-F238E27FC236}">
                    <a16:creationId xmlns:a16="http://schemas.microsoft.com/office/drawing/2014/main" id="{12E38FCC-44FA-1AB2-49FF-ABEA8EA21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4231" y="12193992"/>
                <a:ext cx="351235" cy="52322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2" name="文字方塊 1061">
            <a:extLst>
              <a:ext uri="{FF2B5EF4-FFF2-40B4-BE49-F238E27FC236}">
                <a16:creationId xmlns:a16="http://schemas.microsoft.com/office/drawing/2014/main" id="{BE2E10B1-5457-FCF5-5FC1-72504C9385BA}"/>
              </a:ext>
            </a:extLst>
          </p:cNvPr>
          <p:cNvSpPr txBox="1"/>
          <p:nvPr/>
        </p:nvSpPr>
        <p:spPr>
          <a:xfrm>
            <a:off x="24208145" y="23759626"/>
            <a:ext cx="5664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各雷諾數的垂直振盪頻譜圖</a:t>
            </a:r>
            <a:endParaRPr lang="zh-HK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79" name="圖片 1078" descr="一張含有 文字, 字型, 螢幕擷取畫面, 行 的圖片&#10;&#10;自動產生的描述">
            <a:extLst>
              <a:ext uri="{FF2B5EF4-FFF2-40B4-BE49-F238E27FC236}">
                <a16:creationId xmlns:a16="http://schemas.microsoft.com/office/drawing/2014/main" id="{F456483F-6DFC-F4E5-DC2A-6FA353B67568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914423" y="16367972"/>
            <a:ext cx="5040000" cy="3528000"/>
          </a:xfrm>
          <a:prstGeom prst="rect">
            <a:avLst/>
          </a:prstGeom>
        </p:spPr>
      </p:pic>
      <p:pic>
        <p:nvPicPr>
          <p:cNvPr id="1080" name="圖片 1079" descr="一張含有 文字, 螢幕擷取畫面, 字型, 行 的圖片&#10;&#10;自動產生的描述">
            <a:extLst>
              <a:ext uri="{FF2B5EF4-FFF2-40B4-BE49-F238E27FC236}">
                <a16:creationId xmlns:a16="http://schemas.microsoft.com/office/drawing/2014/main" id="{1BB8598E-71A1-4E01-6D0A-C63B61F745C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520744" y="16367974"/>
            <a:ext cx="5040000" cy="3528000"/>
          </a:xfrm>
          <a:prstGeom prst="rect">
            <a:avLst/>
          </a:prstGeom>
        </p:spPr>
      </p:pic>
      <p:pic>
        <p:nvPicPr>
          <p:cNvPr id="1081" name="圖片 1080" descr="一張含有 文字, 字型, 行, 螢幕擷取畫面 的圖片&#10;&#10;自動產生的描述">
            <a:extLst>
              <a:ext uri="{FF2B5EF4-FFF2-40B4-BE49-F238E27FC236}">
                <a16:creationId xmlns:a16="http://schemas.microsoft.com/office/drawing/2014/main" id="{CA4E9AAC-F207-0A49-CA82-DC1D9C9DB7E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3127065" y="16365163"/>
            <a:ext cx="5040000" cy="3528000"/>
          </a:xfrm>
          <a:prstGeom prst="rect">
            <a:avLst/>
          </a:prstGeom>
        </p:spPr>
      </p:pic>
      <p:pic>
        <p:nvPicPr>
          <p:cNvPr id="1082" name="圖片 1081" descr="一張含有 文字, 字型, 螢幕擷取畫面, 行 的圖片&#10;&#10;自動產生的描述">
            <a:extLst>
              <a:ext uri="{FF2B5EF4-FFF2-40B4-BE49-F238E27FC236}">
                <a16:creationId xmlns:a16="http://schemas.microsoft.com/office/drawing/2014/main" id="{3A93D337-F635-CF43-3DF8-D7975640FF5D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8733386" y="16367972"/>
            <a:ext cx="5040000" cy="3528000"/>
          </a:xfrm>
          <a:prstGeom prst="rect">
            <a:avLst/>
          </a:prstGeom>
        </p:spPr>
      </p:pic>
      <p:pic>
        <p:nvPicPr>
          <p:cNvPr id="1083" name="圖片 1082" descr="一張含有 文字, 行, 字型, 螢幕擷取畫面 的圖片&#10;&#10;自動產生的描述">
            <a:extLst>
              <a:ext uri="{FF2B5EF4-FFF2-40B4-BE49-F238E27FC236}">
                <a16:creationId xmlns:a16="http://schemas.microsoft.com/office/drawing/2014/main" id="{91255C05-34EE-2902-EE81-E4A997DE1F0F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4339708" y="16367972"/>
            <a:ext cx="5040000" cy="3528000"/>
          </a:xfrm>
          <a:prstGeom prst="rect">
            <a:avLst/>
          </a:prstGeom>
        </p:spPr>
      </p:pic>
      <p:pic>
        <p:nvPicPr>
          <p:cNvPr id="166" name="圖片 165">
            <a:extLst>
              <a:ext uri="{FF2B5EF4-FFF2-40B4-BE49-F238E27FC236}">
                <a16:creationId xmlns:a16="http://schemas.microsoft.com/office/drawing/2014/main" id="{85415D42-DFE7-7897-8463-5C0A42EF9956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889023" y="19898501"/>
            <a:ext cx="5040000" cy="2880000"/>
          </a:xfrm>
          <a:prstGeom prst="rect">
            <a:avLst/>
          </a:prstGeom>
        </p:spPr>
      </p:pic>
      <p:pic>
        <p:nvPicPr>
          <p:cNvPr id="167" name="圖片 166" descr="一張含有 螢幕擷取畫面 的圖片&#10;&#10;自動產生的描述">
            <a:extLst>
              <a:ext uri="{FF2B5EF4-FFF2-40B4-BE49-F238E27FC236}">
                <a16:creationId xmlns:a16="http://schemas.microsoft.com/office/drawing/2014/main" id="{07B31534-CE11-07D4-35BF-A9BE1EEF9A7E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498930" y="19898501"/>
            <a:ext cx="5040000" cy="2880000"/>
          </a:xfrm>
          <a:prstGeom prst="rect">
            <a:avLst/>
          </a:prstGeom>
        </p:spPr>
      </p:pic>
      <p:pic>
        <p:nvPicPr>
          <p:cNvPr id="168" name="圖片 167" descr="一張含有 螢幕擷取畫面 的圖片&#10;&#10;自動產生的描述">
            <a:extLst>
              <a:ext uri="{FF2B5EF4-FFF2-40B4-BE49-F238E27FC236}">
                <a16:creationId xmlns:a16="http://schemas.microsoft.com/office/drawing/2014/main" id="{7123284A-BCDC-A651-2D3C-52850A13D27B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3108837" y="19898501"/>
            <a:ext cx="5040000" cy="2880000"/>
          </a:xfrm>
          <a:prstGeom prst="rect">
            <a:avLst/>
          </a:prstGeom>
        </p:spPr>
      </p:pic>
      <p:pic>
        <p:nvPicPr>
          <p:cNvPr id="169" name="圖片 168" descr="一張含有 螢幕擷取畫面 的圖片&#10;&#10;自動產生的描述">
            <a:extLst>
              <a:ext uri="{FF2B5EF4-FFF2-40B4-BE49-F238E27FC236}">
                <a16:creationId xmlns:a16="http://schemas.microsoft.com/office/drawing/2014/main" id="{B705758C-D3D2-C506-A200-6E571C6D828E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8718744" y="19898501"/>
            <a:ext cx="5040000" cy="2880000"/>
          </a:xfrm>
          <a:prstGeom prst="rect">
            <a:avLst/>
          </a:prstGeom>
        </p:spPr>
      </p:pic>
      <p:pic>
        <p:nvPicPr>
          <p:cNvPr id="170" name="圖片 169" descr="一張含有 螢幕擷取畫面, 設計 的圖片&#10;&#10;自動產生的描述">
            <a:extLst>
              <a:ext uri="{FF2B5EF4-FFF2-40B4-BE49-F238E27FC236}">
                <a16:creationId xmlns:a16="http://schemas.microsoft.com/office/drawing/2014/main" id="{53A80025-640D-DDE5-2E3B-1E32F900E7B6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4306248" y="19898501"/>
            <a:ext cx="5040000" cy="2880000"/>
          </a:xfrm>
          <a:prstGeom prst="rect">
            <a:avLst/>
          </a:prstGeom>
        </p:spPr>
      </p:pic>
      <p:sp>
        <p:nvSpPr>
          <p:cNvPr id="171" name="文字方塊 1">
            <a:extLst>
              <a:ext uri="{FF2B5EF4-FFF2-40B4-BE49-F238E27FC236}">
                <a16:creationId xmlns:a16="http://schemas.microsoft.com/office/drawing/2014/main" id="{104F2FA9-DB4F-00C5-93D6-D30D65B5E6F8}"/>
              </a:ext>
            </a:extLst>
          </p:cNvPr>
          <p:cNvSpPr txBox="1"/>
          <p:nvPr/>
        </p:nvSpPr>
        <p:spPr>
          <a:xfrm>
            <a:off x="1889023" y="22835242"/>
            <a:ext cx="50400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2800" dirty="0">
                <a:latin typeface="微軟正黑體"/>
                <a:ea typeface="微軟正黑體"/>
                <a:cs typeface="Calibri"/>
              </a:rPr>
              <a:t>Re </a:t>
            </a:r>
            <a:r>
              <a:rPr lang="en-US" altLang="zh-TW" sz="2800" dirty="0">
                <a:latin typeface="微軟正黑體"/>
                <a:ea typeface="微軟正黑體"/>
                <a:cs typeface="Calibri"/>
              </a:rPr>
              <a:t>= </a:t>
            </a:r>
            <a:r>
              <a:rPr lang="zh-TW" altLang="en-US" sz="2800" dirty="0">
                <a:latin typeface="微軟正黑體"/>
                <a:ea typeface="微軟正黑體"/>
                <a:cs typeface="Calibri"/>
              </a:rPr>
              <a:t>100 </a:t>
            </a:r>
            <a:r>
              <a:rPr lang="en-GB" altLang="zh-TW" sz="2800" dirty="0">
                <a:latin typeface="微軟正黑體"/>
                <a:ea typeface="微軟正黑體"/>
                <a:cs typeface="Calibri"/>
              </a:rPr>
              <a:t>,</a:t>
            </a:r>
            <a:r>
              <a:rPr lang="zh-TW" altLang="en-US" sz="2800" dirty="0">
                <a:latin typeface="微軟正黑體"/>
                <a:ea typeface="微軟正黑體"/>
                <a:cs typeface="Calibri"/>
              </a:rPr>
              <a:t> L/D=</a:t>
            </a:r>
            <a:r>
              <a:rPr lang="zh-TW" altLang="en-US" sz="2800" b="1" i="1" dirty="0">
                <a:latin typeface="微軟正黑體"/>
                <a:ea typeface="微軟正黑體"/>
                <a:cs typeface="Calibri"/>
              </a:rPr>
              <a:t>1.0</a:t>
            </a:r>
            <a:r>
              <a:rPr lang="zh-TW" altLang="en-US" sz="2800" i="1" dirty="0">
                <a:latin typeface="微軟正黑體"/>
                <a:ea typeface="微軟正黑體"/>
                <a:cs typeface="Calibri"/>
              </a:rPr>
              <a:t> </a:t>
            </a:r>
            <a:r>
              <a:rPr lang="en-GB" altLang="zh-TW" sz="2800" dirty="0">
                <a:latin typeface="微軟正黑體"/>
                <a:ea typeface="微軟正黑體"/>
                <a:cs typeface="Calibri"/>
              </a:rPr>
              <a:t>, t =</a:t>
            </a:r>
            <a:r>
              <a:rPr lang="zh-TW" altLang="en-US" sz="2800" dirty="0">
                <a:latin typeface="微軟正黑體"/>
                <a:ea typeface="微軟正黑體"/>
                <a:cs typeface="Calibri"/>
              </a:rPr>
              <a:t> 300s</a:t>
            </a:r>
          </a:p>
        </p:txBody>
      </p:sp>
      <p:sp>
        <p:nvSpPr>
          <p:cNvPr id="172" name="文字方塊 1">
            <a:extLst>
              <a:ext uri="{FF2B5EF4-FFF2-40B4-BE49-F238E27FC236}">
                <a16:creationId xmlns:a16="http://schemas.microsoft.com/office/drawing/2014/main" id="{68F64DA6-500B-1ACF-39A0-FCE2C176B6FF}"/>
              </a:ext>
            </a:extLst>
          </p:cNvPr>
          <p:cNvSpPr txBox="1"/>
          <p:nvPr/>
        </p:nvSpPr>
        <p:spPr>
          <a:xfrm>
            <a:off x="7498930" y="22835242"/>
            <a:ext cx="5039999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2800" dirty="0">
                <a:latin typeface="微軟正黑體"/>
                <a:ea typeface="微軟正黑體"/>
                <a:cs typeface="Calibri"/>
              </a:rPr>
              <a:t>Re </a:t>
            </a:r>
            <a:r>
              <a:rPr lang="en-US" altLang="zh-TW" sz="2800" dirty="0">
                <a:latin typeface="微軟正黑體"/>
                <a:ea typeface="微軟正黑體"/>
                <a:cs typeface="Calibri"/>
              </a:rPr>
              <a:t>=</a:t>
            </a:r>
            <a:r>
              <a:rPr lang="zh-TW" altLang="en-US" sz="2800" dirty="0">
                <a:latin typeface="微軟正黑體"/>
                <a:ea typeface="微軟正黑體"/>
                <a:cs typeface="Calibri"/>
              </a:rPr>
              <a:t> 100 </a:t>
            </a:r>
            <a:r>
              <a:rPr lang="en-GB" altLang="zh-TW" sz="2800" dirty="0">
                <a:latin typeface="微軟正黑體"/>
                <a:ea typeface="微軟正黑體"/>
                <a:cs typeface="Calibri"/>
              </a:rPr>
              <a:t>,</a:t>
            </a:r>
            <a:r>
              <a:rPr lang="zh-TW" altLang="en-US" sz="2800" dirty="0">
                <a:latin typeface="微軟正黑體"/>
                <a:ea typeface="微軟正黑體"/>
                <a:cs typeface="Calibri"/>
              </a:rPr>
              <a:t> L/D=</a:t>
            </a:r>
            <a:r>
              <a:rPr lang="en-GB" altLang="zh-TW" sz="2800" b="1" i="1" dirty="0">
                <a:latin typeface="微軟正黑體"/>
                <a:ea typeface="微軟正黑體"/>
                <a:cs typeface="Calibri"/>
              </a:rPr>
              <a:t>2</a:t>
            </a:r>
            <a:r>
              <a:rPr lang="zh-TW" altLang="en-US" sz="2800" b="1" i="1" dirty="0">
                <a:latin typeface="微軟正黑體"/>
                <a:ea typeface="微軟正黑體"/>
                <a:cs typeface="Calibri"/>
              </a:rPr>
              <a:t>.0</a:t>
            </a:r>
            <a:r>
              <a:rPr lang="zh-TW" altLang="en-US" sz="2800" i="1" dirty="0">
                <a:latin typeface="微軟正黑體"/>
                <a:ea typeface="微軟正黑體"/>
                <a:cs typeface="Calibri"/>
              </a:rPr>
              <a:t> </a:t>
            </a:r>
            <a:r>
              <a:rPr lang="en-GB" altLang="zh-TW" sz="2800" dirty="0">
                <a:latin typeface="微軟正黑體"/>
                <a:ea typeface="微軟正黑體"/>
                <a:cs typeface="Calibri"/>
              </a:rPr>
              <a:t>,</a:t>
            </a:r>
            <a:r>
              <a:rPr lang="zh-TW" altLang="en-US" sz="2800" dirty="0">
                <a:latin typeface="微軟正黑體"/>
                <a:ea typeface="微軟正黑體"/>
                <a:cs typeface="Calibri"/>
              </a:rPr>
              <a:t> </a:t>
            </a:r>
            <a:r>
              <a:rPr lang="en-US" altLang="zh-TW" sz="2800" dirty="0">
                <a:latin typeface="微軟正黑體"/>
                <a:ea typeface="微軟正黑體"/>
                <a:cs typeface="Calibri"/>
              </a:rPr>
              <a:t>t = </a:t>
            </a:r>
            <a:r>
              <a:rPr lang="zh-TW" altLang="en-US" sz="2800" dirty="0">
                <a:latin typeface="微軟正黑體"/>
                <a:ea typeface="微軟正黑體"/>
                <a:cs typeface="Calibri"/>
              </a:rPr>
              <a:t>300s</a:t>
            </a:r>
          </a:p>
        </p:txBody>
      </p:sp>
      <p:sp>
        <p:nvSpPr>
          <p:cNvPr id="173" name="文字方塊 1">
            <a:extLst>
              <a:ext uri="{FF2B5EF4-FFF2-40B4-BE49-F238E27FC236}">
                <a16:creationId xmlns:a16="http://schemas.microsoft.com/office/drawing/2014/main" id="{B17F8978-0E7F-2904-CF57-CF953118C585}"/>
              </a:ext>
            </a:extLst>
          </p:cNvPr>
          <p:cNvSpPr txBox="1"/>
          <p:nvPr/>
        </p:nvSpPr>
        <p:spPr>
          <a:xfrm>
            <a:off x="13108836" y="22835242"/>
            <a:ext cx="5039999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2800" dirty="0">
                <a:latin typeface="微軟正黑體"/>
                <a:ea typeface="微軟正黑體"/>
                <a:cs typeface="Calibri"/>
              </a:rPr>
              <a:t>Re </a:t>
            </a:r>
            <a:r>
              <a:rPr lang="en-US" altLang="zh-TW" sz="2800" dirty="0">
                <a:latin typeface="微軟正黑體"/>
                <a:ea typeface="微軟正黑體"/>
                <a:cs typeface="Calibri"/>
              </a:rPr>
              <a:t>=</a:t>
            </a:r>
            <a:r>
              <a:rPr lang="zh-TW" altLang="en-US" sz="2800" dirty="0">
                <a:latin typeface="微軟正黑體"/>
                <a:ea typeface="微軟正黑體"/>
                <a:cs typeface="Calibri"/>
              </a:rPr>
              <a:t> 100 </a:t>
            </a:r>
            <a:r>
              <a:rPr lang="en-GB" altLang="zh-TW" sz="2800" dirty="0">
                <a:latin typeface="微軟正黑體"/>
                <a:ea typeface="微軟正黑體"/>
                <a:cs typeface="Calibri"/>
              </a:rPr>
              <a:t>,</a:t>
            </a:r>
            <a:r>
              <a:rPr lang="zh-TW" altLang="en-US" sz="2800" dirty="0">
                <a:latin typeface="微軟正黑體"/>
                <a:ea typeface="微軟正黑體"/>
                <a:cs typeface="Calibri"/>
              </a:rPr>
              <a:t> L/D=</a:t>
            </a:r>
            <a:r>
              <a:rPr lang="en-GB" altLang="zh-TW" sz="2800" b="1" i="1" dirty="0">
                <a:latin typeface="微軟正黑體"/>
                <a:ea typeface="微軟正黑體"/>
                <a:cs typeface="Calibri"/>
              </a:rPr>
              <a:t>3</a:t>
            </a:r>
            <a:r>
              <a:rPr lang="zh-TW" altLang="en-US" sz="2800" b="1" i="1" dirty="0">
                <a:latin typeface="微軟正黑體"/>
                <a:ea typeface="微軟正黑體"/>
                <a:cs typeface="Calibri"/>
              </a:rPr>
              <a:t>.0 </a:t>
            </a:r>
            <a:r>
              <a:rPr lang="en-GB" altLang="zh-TW" sz="2800" dirty="0">
                <a:latin typeface="微軟正黑體"/>
                <a:ea typeface="微軟正黑體"/>
                <a:cs typeface="Calibri"/>
              </a:rPr>
              <a:t>, t = </a:t>
            </a:r>
            <a:r>
              <a:rPr lang="zh-TW" altLang="en-US" sz="2800" dirty="0">
                <a:latin typeface="微軟正黑體"/>
                <a:ea typeface="微軟正黑體"/>
                <a:cs typeface="Calibri"/>
              </a:rPr>
              <a:t>300s</a:t>
            </a:r>
          </a:p>
        </p:txBody>
      </p:sp>
      <p:sp>
        <p:nvSpPr>
          <p:cNvPr id="174" name="文字方塊 1">
            <a:extLst>
              <a:ext uri="{FF2B5EF4-FFF2-40B4-BE49-F238E27FC236}">
                <a16:creationId xmlns:a16="http://schemas.microsoft.com/office/drawing/2014/main" id="{A940D5EE-03FA-B182-FB74-F01C2997C67F}"/>
              </a:ext>
            </a:extLst>
          </p:cNvPr>
          <p:cNvSpPr txBox="1"/>
          <p:nvPr/>
        </p:nvSpPr>
        <p:spPr>
          <a:xfrm>
            <a:off x="18733386" y="22835242"/>
            <a:ext cx="5009353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2800" dirty="0">
                <a:latin typeface="微軟正黑體"/>
                <a:ea typeface="微軟正黑體"/>
                <a:cs typeface="Calibri"/>
              </a:rPr>
              <a:t>Re </a:t>
            </a:r>
            <a:r>
              <a:rPr lang="en-US" altLang="zh-TW" sz="2800" dirty="0">
                <a:latin typeface="微軟正黑體"/>
                <a:ea typeface="微軟正黑體"/>
                <a:cs typeface="Calibri"/>
              </a:rPr>
              <a:t>=</a:t>
            </a:r>
            <a:r>
              <a:rPr lang="zh-TW" altLang="en-US" sz="2800" dirty="0">
                <a:latin typeface="微軟正黑體"/>
                <a:ea typeface="微軟正黑體"/>
                <a:cs typeface="Calibri"/>
              </a:rPr>
              <a:t> 100 </a:t>
            </a:r>
            <a:r>
              <a:rPr lang="en-GB" altLang="zh-TW" sz="2800" dirty="0">
                <a:latin typeface="微軟正黑體"/>
                <a:ea typeface="微軟正黑體"/>
                <a:cs typeface="Calibri"/>
              </a:rPr>
              <a:t>,</a:t>
            </a:r>
            <a:r>
              <a:rPr lang="zh-TW" altLang="en-US" sz="2800" dirty="0">
                <a:latin typeface="微軟正黑體"/>
                <a:ea typeface="微軟正黑體"/>
                <a:cs typeface="Calibri"/>
              </a:rPr>
              <a:t> L/D=</a:t>
            </a:r>
            <a:r>
              <a:rPr lang="en-GB" altLang="zh-TW" sz="2800" b="1" i="1" dirty="0">
                <a:latin typeface="微軟正黑體"/>
                <a:ea typeface="微軟正黑體"/>
                <a:cs typeface="Calibri"/>
              </a:rPr>
              <a:t>4</a:t>
            </a:r>
            <a:r>
              <a:rPr lang="zh-TW" altLang="en-US" sz="2800" b="1" i="1" dirty="0">
                <a:latin typeface="微軟正黑體"/>
                <a:ea typeface="微軟正黑體"/>
                <a:cs typeface="Calibri"/>
              </a:rPr>
              <a:t>.0</a:t>
            </a:r>
            <a:r>
              <a:rPr lang="zh-TW" altLang="en-US" sz="2800" dirty="0">
                <a:latin typeface="微軟正黑體"/>
                <a:ea typeface="微軟正黑體"/>
                <a:cs typeface="Calibri"/>
              </a:rPr>
              <a:t> </a:t>
            </a:r>
            <a:r>
              <a:rPr lang="en-GB" altLang="zh-TW" sz="2800" dirty="0">
                <a:latin typeface="微軟正黑體"/>
                <a:ea typeface="微軟正黑體"/>
                <a:cs typeface="Calibri"/>
              </a:rPr>
              <a:t>, t =</a:t>
            </a:r>
            <a:r>
              <a:rPr lang="zh-TW" altLang="en-US" sz="2800" dirty="0">
                <a:latin typeface="微軟正黑體"/>
                <a:ea typeface="微軟正黑體"/>
                <a:cs typeface="Calibri"/>
              </a:rPr>
              <a:t> 300s</a:t>
            </a:r>
          </a:p>
        </p:txBody>
      </p:sp>
      <p:sp>
        <p:nvSpPr>
          <p:cNvPr id="175" name="文字方塊 1">
            <a:extLst>
              <a:ext uri="{FF2B5EF4-FFF2-40B4-BE49-F238E27FC236}">
                <a16:creationId xmlns:a16="http://schemas.microsoft.com/office/drawing/2014/main" id="{1A11C99F-622D-BCDF-51BB-5C4B72A67CCA}"/>
              </a:ext>
            </a:extLst>
          </p:cNvPr>
          <p:cNvSpPr txBox="1"/>
          <p:nvPr/>
        </p:nvSpPr>
        <p:spPr>
          <a:xfrm>
            <a:off x="24306248" y="22835242"/>
            <a:ext cx="50400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2800" dirty="0">
                <a:latin typeface="微軟正黑體"/>
                <a:ea typeface="微軟正黑體"/>
                <a:cs typeface="Calibri"/>
              </a:rPr>
              <a:t>Re </a:t>
            </a:r>
            <a:r>
              <a:rPr lang="en-US" altLang="zh-TW" sz="2800" dirty="0">
                <a:latin typeface="微軟正黑體"/>
                <a:ea typeface="微軟正黑體"/>
                <a:cs typeface="Calibri"/>
              </a:rPr>
              <a:t>=</a:t>
            </a:r>
            <a:r>
              <a:rPr lang="zh-TW" altLang="en-US" sz="2800" dirty="0">
                <a:latin typeface="微軟正黑體"/>
                <a:ea typeface="微軟正黑體"/>
                <a:cs typeface="Calibri"/>
              </a:rPr>
              <a:t> 100</a:t>
            </a:r>
            <a:r>
              <a:rPr lang="en-GB" altLang="zh-TW" sz="2800" dirty="0">
                <a:latin typeface="微軟正黑體"/>
                <a:ea typeface="微軟正黑體"/>
                <a:cs typeface="Calibri"/>
              </a:rPr>
              <a:t>,</a:t>
            </a:r>
            <a:r>
              <a:rPr lang="zh-TW" altLang="en-US" sz="2800" dirty="0">
                <a:latin typeface="微軟正黑體"/>
                <a:ea typeface="微軟正黑體"/>
                <a:cs typeface="Calibri"/>
              </a:rPr>
              <a:t> L/D=</a:t>
            </a:r>
            <a:r>
              <a:rPr lang="en-GB" altLang="zh-TW" sz="2800" b="1" i="1" dirty="0">
                <a:latin typeface="微軟正黑體"/>
                <a:ea typeface="微軟正黑體"/>
                <a:cs typeface="Calibri"/>
              </a:rPr>
              <a:t>5</a:t>
            </a:r>
            <a:r>
              <a:rPr lang="zh-TW" altLang="en-US" sz="2800" b="1" i="1" dirty="0">
                <a:latin typeface="微軟正黑體"/>
                <a:ea typeface="微軟正黑體"/>
                <a:cs typeface="Calibri"/>
              </a:rPr>
              <a:t>.0</a:t>
            </a:r>
            <a:r>
              <a:rPr lang="zh-TW" altLang="en-US" sz="2800" dirty="0">
                <a:latin typeface="微軟正黑體"/>
                <a:ea typeface="微軟正黑體"/>
                <a:cs typeface="Calibri"/>
              </a:rPr>
              <a:t> </a:t>
            </a:r>
            <a:r>
              <a:rPr lang="en-GB" altLang="zh-TW" sz="2800" dirty="0">
                <a:latin typeface="微軟正黑體"/>
                <a:ea typeface="微軟正黑體"/>
                <a:cs typeface="Calibri"/>
              </a:rPr>
              <a:t>, t =</a:t>
            </a:r>
            <a:r>
              <a:rPr lang="zh-TW" altLang="en-US" sz="2800" dirty="0">
                <a:latin typeface="微軟正黑體"/>
                <a:ea typeface="微軟正黑體"/>
                <a:cs typeface="Calibri"/>
              </a:rPr>
              <a:t> 300s</a:t>
            </a:r>
          </a:p>
        </p:txBody>
      </p:sp>
      <p:pic>
        <p:nvPicPr>
          <p:cNvPr id="9" name="圖片 8" descr="一張含有 符號, 標誌, 圓形, 象徵物 的圖片&#10;&#10;自動產生的描述">
            <a:extLst>
              <a:ext uri="{FF2B5EF4-FFF2-40B4-BE49-F238E27FC236}">
                <a16:creationId xmlns:a16="http://schemas.microsoft.com/office/drawing/2014/main" id="{4937EED9-E573-E044-09F5-9971C002437C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234" y="372147"/>
            <a:ext cx="2106000" cy="21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81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暖調藍色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E756C5751547EB47B172E442AE8E8EED" ma:contentTypeVersion="4" ma:contentTypeDescription="建立新的文件。" ma:contentTypeScope="" ma:versionID="d19888163bfdc3153b3489f51d33b7ca">
  <xsd:schema xmlns:xsd="http://www.w3.org/2001/XMLSchema" xmlns:xs="http://www.w3.org/2001/XMLSchema" xmlns:p="http://schemas.microsoft.com/office/2006/metadata/properties" xmlns:ns3="5ecb44df-0a67-46a7-990e-b46cdd126e01" targetNamespace="http://schemas.microsoft.com/office/2006/metadata/properties" ma:root="true" ma:fieldsID="2e571338a2aee25fbba1a217045692bc" ns3:_="">
    <xsd:import namespace="5ecb44df-0a67-46a7-990e-b46cdd126e0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cb44df-0a67-46a7-990e-b46cdd126e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ecb44df-0a67-46a7-990e-b46cdd126e01" xsi:nil="true"/>
  </documentManagement>
</p:properties>
</file>

<file path=customXml/itemProps1.xml><?xml version="1.0" encoding="utf-8"?>
<ds:datastoreItem xmlns:ds="http://schemas.openxmlformats.org/officeDocument/2006/customXml" ds:itemID="{B9B535D5-0764-4C1A-8ECB-86DCF482BC70}">
  <ds:schemaRefs>
    <ds:schemaRef ds:uri="5ecb44df-0a67-46a7-990e-b46cdd126e0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2B6BC0F-939C-4735-851D-03495BE4147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E7CFE9-F93F-4425-8347-8819C9317DFB}">
  <ds:schemaRefs>
    <ds:schemaRef ds:uri="http://schemas.microsoft.com/office/2006/documentManagement/types"/>
    <ds:schemaRef ds:uri="http://purl.org/dc/terms/"/>
    <ds:schemaRef ds:uri="http://purl.org/dc/elements/1.1/"/>
    <ds:schemaRef ds:uri="http://schemas.microsoft.com/office/2006/metadata/properties"/>
    <ds:schemaRef ds:uri="http://www.w3.org/XML/1998/namespace"/>
    <ds:schemaRef ds:uri="5ecb44df-0a67-46a7-990e-b46cdd126e01"/>
    <ds:schemaRef ds:uri="http://schemas.openxmlformats.org/package/2006/metadata/core-properti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126</TotalTime>
  <Words>841</Words>
  <Application>Microsoft Office PowerPoint</Application>
  <PresentationFormat>自訂</PresentationFormat>
  <Paragraphs>80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11" baseType="lpstr">
      <vt:lpstr>Wingdings,Sans-Serif</vt:lpstr>
      <vt:lpstr>微軟正黑體</vt:lpstr>
      <vt:lpstr>微軟正黑體</vt:lpstr>
      <vt:lpstr>標楷體</vt:lpstr>
      <vt:lpstr>Arial</vt:lpstr>
      <vt:lpstr>Calibri</vt:lpstr>
      <vt:lpstr>Calibri Light</vt:lpstr>
      <vt:lpstr>Cambria Math</vt:lpstr>
      <vt:lpstr>Wingdings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范志浩</dc:creator>
  <cp:lastModifiedBy>李瑋浩</cp:lastModifiedBy>
  <cp:revision>5</cp:revision>
  <dcterms:created xsi:type="dcterms:W3CDTF">2023-12-03T14:11:45Z</dcterms:created>
  <dcterms:modified xsi:type="dcterms:W3CDTF">2024-01-05T14:47:40Z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0x010100E756C5751547EB47B172E442AE8E8EED</vt:lpwstr>
  </property>
</Properties>
</file>