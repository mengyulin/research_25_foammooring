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057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110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167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220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277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330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199387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6440" algn="l" defTabSz="45705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靖英 張" initials="靖英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5"/>
    <a:srgbClr val="D59181"/>
    <a:srgbClr val="B4A2A2"/>
    <a:srgbClr val="FADA3C"/>
    <a:srgbClr val="81AC7A"/>
    <a:srgbClr val="80D1C8"/>
    <a:srgbClr val="F8F5D6"/>
    <a:srgbClr val="620706"/>
    <a:srgbClr val="1C6073"/>
    <a:srgbClr val="FFD7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 autoAdjust="0"/>
    <p:restoredTop sz="96197"/>
  </p:normalViewPr>
  <p:slideViewPr>
    <p:cSldViewPr snapToGrid="0">
      <p:cViewPr>
        <p:scale>
          <a:sx n="47" d="100"/>
          <a:sy n="47" d="100"/>
        </p:scale>
        <p:origin x="442" y="134"/>
      </p:cViewPr>
      <p:guideLst>
        <p:guide orient="horz" pos="13607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429947" y="13420214"/>
            <a:ext cx="27539395" cy="92601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859893" y="24480362"/>
            <a:ext cx="22679502" cy="110401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7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5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4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3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0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690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0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63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59320" y="27760426"/>
            <a:ext cx="27539395" cy="8580127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59320" y="18310283"/>
            <a:ext cx="27539395" cy="9450136"/>
          </a:xfrm>
        </p:spPr>
        <p:txBody>
          <a:bodyPr anchor="b"/>
          <a:lstStyle>
            <a:lvl1pPr marL="0" indent="0">
              <a:buNone/>
              <a:defRPr sz="9400">
                <a:solidFill>
                  <a:schemeClr val="tx1">
                    <a:tint val="75000"/>
                  </a:schemeClr>
                </a:solidFill>
              </a:defRPr>
            </a:lvl1pPr>
            <a:lvl2pPr marL="2158626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7251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58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450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313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17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038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6901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37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619964" y="10080152"/>
            <a:ext cx="14309686" cy="2851042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6469638" y="10080152"/>
            <a:ext cx="14309686" cy="2851042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08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619964" y="9670146"/>
            <a:ext cx="14315312" cy="4030056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8626" indent="0">
              <a:buNone/>
              <a:defRPr sz="9400" b="1"/>
            </a:lvl2pPr>
            <a:lvl3pPr marL="4317251" indent="0">
              <a:buNone/>
              <a:defRPr sz="8500" b="1"/>
            </a:lvl3pPr>
            <a:lvl4pPr marL="6475877" indent="0">
              <a:buNone/>
              <a:defRPr sz="7600" b="1"/>
            </a:lvl4pPr>
            <a:lvl5pPr marL="8634507" indent="0">
              <a:buNone/>
              <a:defRPr sz="7600" b="1"/>
            </a:lvl5pPr>
            <a:lvl6pPr marL="10793133" indent="0">
              <a:buNone/>
              <a:defRPr sz="7600" b="1"/>
            </a:lvl6pPr>
            <a:lvl7pPr marL="12951758" indent="0">
              <a:buNone/>
              <a:defRPr sz="7600" b="1"/>
            </a:lvl7pPr>
            <a:lvl8pPr marL="15110389" indent="0">
              <a:buNone/>
              <a:defRPr sz="7600" b="1"/>
            </a:lvl8pPr>
            <a:lvl9pPr marL="17269014" indent="0">
              <a:buNone/>
              <a:defRPr sz="7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619964" y="13700202"/>
            <a:ext cx="14315312" cy="24890371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16458397" y="9670146"/>
            <a:ext cx="14320935" cy="4030056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8626" indent="0">
              <a:buNone/>
              <a:defRPr sz="9400" b="1"/>
            </a:lvl2pPr>
            <a:lvl3pPr marL="4317251" indent="0">
              <a:buNone/>
              <a:defRPr sz="8500" b="1"/>
            </a:lvl3pPr>
            <a:lvl4pPr marL="6475877" indent="0">
              <a:buNone/>
              <a:defRPr sz="7600" b="1"/>
            </a:lvl4pPr>
            <a:lvl5pPr marL="8634507" indent="0">
              <a:buNone/>
              <a:defRPr sz="7600" b="1"/>
            </a:lvl5pPr>
            <a:lvl6pPr marL="10793133" indent="0">
              <a:buNone/>
              <a:defRPr sz="7600" b="1"/>
            </a:lvl6pPr>
            <a:lvl7pPr marL="12951758" indent="0">
              <a:buNone/>
              <a:defRPr sz="7600" b="1"/>
            </a:lvl7pPr>
            <a:lvl8pPr marL="15110389" indent="0">
              <a:buNone/>
              <a:defRPr sz="7600" b="1"/>
            </a:lvl8pPr>
            <a:lvl9pPr marL="17269014" indent="0">
              <a:buNone/>
              <a:defRPr sz="7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16458397" y="13700202"/>
            <a:ext cx="14320935" cy="24890371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82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91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01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973" y="1720025"/>
            <a:ext cx="10659143" cy="7320108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667222" y="1720028"/>
            <a:ext cx="18112102" cy="36870548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400"/>
            </a:lvl4pPr>
            <a:lvl5pPr>
              <a:defRPr sz="9400"/>
            </a:lvl5pPr>
            <a:lvl6pPr>
              <a:defRPr sz="9400"/>
            </a:lvl6pPr>
            <a:lvl7pPr>
              <a:defRPr sz="9400"/>
            </a:lvl7pPr>
            <a:lvl8pPr>
              <a:defRPr sz="9400"/>
            </a:lvl8pPr>
            <a:lvl9pPr>
              <a:defRPr sz="9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19973" y="9040136"/>
            <a:ext cx="10659143" cy="29550440"/>
          </a:xfrm>
        </p:spPr>
        <p:txBody>
          <a:bodyPr/>
          <a:lstStyle>
            <a:lvl1pPr marL="0" indent="0">
              <a:buNone/>
              <a:defRPr sz="6600"/>
            </a:lvl1pPr>
            <a:lvl2pPr marL="2158626" indent="0">
              <a:buNone/>
              <a:defRPr sz="5700"/>
            </a:lvl2pPr>
            <a:lvl3pPr marL="4317251" indent="0">
              <a:buNone/>
              <a:defRPr sz="4700"/>
            </a:lvl3pPr>
            <a:lvl4pPr marL="6475877" indent="0">
              <a:buNone/>
              <a:defRPr sz="4300"/>
            </a:lvl4pPr>
            <a:lvl5pPr marL="8634507" indent="0">
              <a:buNone/>
              <a:defRPr sz="4300"/>
            </a:lvl5pPr>
            <a:lvl6pPr marL="10793133" indent="0">
              <a:buNone/>
              <a:defRPr sz="4300"/>
            </a:lvl6pPr>
            <a:lvl7pPr marL="12951758" indent="0">
              <a:buNone/>
              <a:defRPr sz="4300"/>
            </a:lvl7pPr>
            <a:lvl8pPr marL="15110389" indent="0">
              <a:buNone/>
              <a:defRPr sz="4300"/>
            </a:lvl8pPr>
            <a:lvl9pPr marL="17269014" indent="0">
              <a:buNone/>
              <a:defRPr sz="4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2495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50487" y="30240447"/>
            <a:ext cx="19439573" cy="3570056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350487" y="3860057"/>
            <a:ext cx="19439573" cy="25920383"/>
          </a:xfrm>
        </p:spPr>
        <p:txBody>
          <a:bodyPr/>
          <a:lstStyle>
            <a:lvl1pPr marL="0" indent="0">
              <a:buNone/>
              <a:defRPr sz="15100"/>
            </a:lvl1pPr>
            <a:lvl2pPr marL="2158626" indent="0">
              <a:buNone/>
              <a:defRPr sz="13200"/>
            </a:lvl2pPr>
            <a:lvl3pPr marL="4317251" indent="0">
              <a:buNone/>
              <a:defRPr sz="11300"/>
            </a:lvl3pPr>
            <a:lvl4pPr marL="6475877" indent="0">
              <a:buNone/>
              <a:defRPr sz="9400"/>
            </a:lvl4pPr>
            <a:lvl5pPr marL="8634507" indent="0">
              <a:buNone/>
              <a:defRPr sz="9400"/>
            </a:lvl5pPr>
            <a:lvl6pPr marL="10793133" indent="0">
              <a:buNone/>
              <a:defRPr sz="9400"/>
            </a:lvl6pPr>
            <a:lvl7pPr marL="12951758" indent="0">
              <a:buNone/>
              <a:defRPr sz="9400"/>
            </a:lvl7pPr>
            <a:lvl8pPr marL="15110389" indent="0">
              <a:buNone/>
              <a:defRPr sz="9400"/>
            </a:lvl8pPr>
            <a:lvl9pPr marL="17269014" indent="0">
              <a:buNone/>
              <a:defRPr sz="94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50487" y="33810502"/>
            <a:ext cx="19439573" cy="5070072"/>
          </a:xfrm>
        </p:spPr>
        <p:txBody>
          <a:bodyPr/>
          <a:lstStyle>
            <a:lvl1pPr marL="0" indent="0">
              <a:buNone/>
              <a:defRPr sz="6600"/>
            </a:lvl1pPr>
            <a:lvl2pPr marL="2158626" indent="0">
              <a:buNone/>
              <a:defRPr sz="5700"/>
            </a:lvl2pPr>
            <a:lvl3pPr marL="4317251" indent="0">
              <a:buNone/>
              <a:defRPr sz="4700"/>
            </a:lvl3pPr>
            <a:lvl4pPr marL="6475877" indent="0">
              <a:buNone/>
              <a:defRPr sz="4300"/>
            </a:lvl4pPr>
            <a:lvl5pPr marL="8634507" indent="0">
              <a:buNone/>
              <a:defRPr sz="4300"/>
            </a:lvl5pPr>
            <a:lvl6pPr marL="10793133" indent="0">
              <a:buNone/>
              <a:defRPr sz="4300"/>
            </a:lvl6pPr>
            <a:lvl7pPr marL="12951758" indent="0">
              <a:buNone/>
              <a:defRPr sz="4300"/>
            </a:lvl7pPr>
            <a:lvl8pPr marL="15110389" indent="0">
              <a:buNone/>
              <a:defRPr sz="4300"/>
            </a:lvl8pPr>
            <a:lvl9pPr marL="17269014" indent="0">
              <a:buNone/>
              <a:defRPr sz="4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16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83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23489484" y="1730032"/>
            <a:ext cx="7289840" cy="368605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619965" y="1730032"/>
            <a:ext cx="21329531" cy="368605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91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A2A2">
            <a:alpha val="6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619965" y="1730029"/>
            <a:ext cx="29159359" cy="7200106"/>
          </a:xfrm>
          <a:prstGeom prst="rect">
            <a:avLst/>
          </a:prstGeom>
        </p:spPr>
        <p:txBody>
          <a:bodyPr vert="horz" lIns="431725" tIns="215863" rIns="431725" bIns="215863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619965" y="10080152"/>
            <a:ext cx="29159359" cy="28510424"/>
          </a:xfrm>
          <a:prstGeom prst="rect">
            <a:avLst/>
          </a:prstGeom>
        </p:spPr>
        <p:txBody>
          <a:bodyPr vert="horz" lIns="431725" tIns="215863" rIns="431725" bIns="215863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619964" y="40040594"/>
            <a:ext cx="7559834" cy="2300034"/>
          </a:xfrm>
          <a:prstGeom prst="rect">
            <a:avLst/>
          </a:prstGeom>
        </p:spPr>
        <p:txBody>
          <a:bodyPr vert="horz" lIns="431725" tIns="215863" rIns="431725" bIns="215863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FE73B-27A3-43CA-BBAB-5679E56F0002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1069757" y="40040594"/>
            <a:ext cx="10259775" cy="2300034"/>
          </a:xfrm>
          <a:prstGeom prst="rect">
            <a:avLst/>
          </a:prstGeom>
        </p:spPr>
        <p:txBody>
          <a:bodyPr vert="horz" lIns="431725" tIns="215863" rIns="431725" bIns="215863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23219490" y="40040594"/>
            <a:ext cx="7559834" cy="2300034"/>
          </a:xfrm>
          <a:prstGeom prst="rect">
            <a:avLst/>
          </a:prstGeom>
        </p:spPr>
        <p:txBody>
          <a:bodyPr vert="horz" lIns="431725" tIns="215863" rIns="431725" bIns="215863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BDAF4-C4B6-4CE9-8B63-8B51863B08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61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317251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8967" indent="-1618967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7773" indent="-1349137" algn="l" defTabSz="4317251" rtl="0" eaLnBrk="1" latinLnBrk="0" hangingPunct="1">
        <a:spcBef>
          <a:spcPct val="20000"/>
        </a:spcBef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6569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5194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–"/>
        <a:defRPr sz="9400" kern="1200">
          <a:solidFill>
            <a:schemeClr val="tx1"/>
          </a:solidFill>
          <a:latin typeface="+mn-lt"/>
          <a:ea typeface="+mn-ea"/>
          <a:cs typeface="+mn-cs"/>
        </a:defRPr>
      </a:lvl4pPr>
      <a:lvl5pPr marL="9713820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»"/>
        <a:defRPr sz="94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2446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1071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7pPr>
      <a:lvl8pPr marL="16189697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8pPr>
      <a:lvl9pPr marL="18348327" indent="-1079318" algn="l" defTabSz="4317251" rtl="0" eaLnBrk="1" latinLnBrk="0" hangingPunct="1">
        <a:spcBef>
          <a:spcPct val="20000"/>
        </a:spcBef>
        <a:buFont typeface="Arial" panose="020B0604020202020204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8626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7251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5877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4507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3133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1758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0389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69014" algn="l" defTabSz="4317251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26" Type="http://schemas.openxmlformats.org/officeDocument/2006/relationships/image" Target="../media/image20.png"/><Relationship Id="rId39" Type="http://schemas.openxmlformats.org/officeDocument/2006/relationships/image" Target="../media/image34.png"/><Relationship Id="rId3" Type="http://schemas.microsoft.com/office/2007/relationships/hdphoto" Target="../media/hdphoto1.wdp"/><Relationship Id="rId21" Type="http://schemas.openxmlformats.org/officeDocument/2006/relationships/image" Target="../media/image18.jpeg"/><Relationship Id="rId34" Type="http://schemas.openxmlformats.org/officeDocument/2006/relationships/image" Target="../media/image29.jpe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openxmlformats.org/officeDocument/2006/relationships/image" Target="../media/image14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3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28.jpeg"/><Relationship Id="rId37" Type="http://schemas.microsoft.com/office/2007/relationships/hdphoto" Target="../media/hdphoto2.wdp"/><Relationship Id="rId40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1.png"/><Relationship Id="rId28" Type="http://schemas.openxmlformats.org/officeDocument/2006/relationships/image" Target="../media/image25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9.jpeg"/><Relationship Id="rId27" Type="http://schemas.openxmlformats.org/officeDocument/2006/relationships/image" Target="../media/image24.png"/><Relationship Id="rId30" Type="http://schemas.openxmlformats.org/officeDocument/2006/relationships/image" Target="../media/image27.jpeg"/><Relationship Id="rId3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圓角 44">
            <a:extLst>
              <a:ext uri="{FF2B5EF4-FFF2-40B4-BE49-F238E27FC236}">
                <a16:creationId xmlns:a16="http://schemas.microsoft.com/office/drawing/2014/main" xmlns="" id="{7AFE90B4-2F90-42DF-C768-2C90D0B3C0B5}"/>
              </a:ext>
            </a:extLst>
          </p:cNvPr>
          <p:cNvSpPr/>
          <p:nvPr/>
        </p:nvSpPr>
        <p:spPr>
          <a:xfrm>
            <a:off x="587722" y="8927802"/>
            <a:ext cx="31123779" cy="18084109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4" name="矩形: 圓角 1033">
            <a:extLst>
              <a:ext uri="{FF2B5EF4-FFF2-40B4-BE49-F238E27FC236}">
                <a16:creationId xmlns:a16="http://schemas.microsoft.com/office/drawing/2014/main" xmlns="" id="{A65A76DC-59D5-5072-1325-C6F413A53A51}"/>
              </a:ext>
            </a:extLst>
          </p:cNvPr>
          <p:cNvSpPr/>
          <p:nvPr/>
        </p:nvSpPr>
        <p:spPr>
          <a:xfrm>
            <a:off x="17623971" y="27491451"/>
            <a:ext cx="14124876" cy="8437447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43" name="矩形: 圓角 1042">
            <a:extLst>
              <a:ext uri="{FF2B5EF4-FFF2-40B4-BE49-F238E27FC236}">
                <a16:creationId xmlns:a16="http://schemas.microsoft.com/office/drawing/2014/main" xmlns="" id="{4F410547-073F-C734-79C8-512C00542772}"/>
              </a:ext>
            </a:extLst>
          </p:cNvPr>
          <p:cNvSpPr/>
          <p:nvPr/>
        </p:nvSpPr>
        <p:spPr>
          <a:xfrm>
            <a:off x="17623971" y="36379661"/>
            <a:ext cx="14124876" cy="5662335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endParaRPr lang="zh-TW" altLang="en-US" sz="3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53" name="矩形: 圓角 1052">
            <a:extLst>
              <a:ext uri="{FF2B5EF4-FFF2-40B4-BE49-F238E27FC236}">
                <a16:creationId xmlns:a16="http://schemas.microsoft.com/office/drawing/2014/main" xmlns="" id="{77A82107-E422-234A-528B-19D06A8E5EF1}"/>
              </a:ext>
            </a:extLst>
          </p:cNvPr>
          <p:cNvSpPr/>
          <p:nvPr/>
        </p:nvSpPr>
        <p:spPr>
          <a:xfrm>
            <a:off x="682756" y="27477803"/>
            <a:ext cx="16458336" cy="14483641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2" name="矩形: 圓角 6">
            <a:extLst>
              <a:ext uri="{FF2B5EF4-FFF2-40B4-BE49-F238E27FC236}">
                <a16:creationId xmlns:a16="http://schemas.microsoft.com/office/drawing/2014/main" xmlns="" id="{743428B2-00E8-6BA3-0BD6-4FE93C5EE5CB}"/>
              </a:ext>
            </a:extLst>
          </p:cNvPr>
          <p:cNvSpPr/>
          <p:nvPr/>
        </p:nvSpPr>
        <p:spPr>
          <a:xfrm>
            <a:off x="21527016" y="4490723"/>
            <a:ext cx="10221831" cy="3955769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應用開源軟體 </a:t>
            </a:r>
            <a:r>
              <a:rPr lang="en-US" altLang="zh-TW" sz="33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OpenFOAM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建構均勻流通過圓柱之二維數值模型。</a:t>
            </a:r>
            <a:endParaRPr lang="en-US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33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ParaView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進行計算結果之後處理。</a:t>
            </a:r>
            <a:endParaRPr lang="en-US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33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Gnuplot</a:t>
            </a:r>
            <a:r>
              <a:rPr lang="en-US" altLang="zh-TW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繪製阻、升力圖。</a:t>
            </a:r>
          </a:p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</a:t>
            </a:r>
            <a:r>
              <a:rPr lang="en-US" altLang="zh-TW" sz="33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Matlab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計算阻、升力之振盪頻率與平均值。</a:t>
            </a:r>
            <a:endParaRPr lang="zh-TW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5" name="矩形: 圓角 6">
            <a:extLst>
              <a:ext uri="{FF2B5EF4-FFF2-40B4-BE49-F238E27FC236}">
                <a16:creationId xmlns:a16="http://schemas.microsoft.com/office/drawing/2014/main" xmlns="" id="{743428B2-00E8-6BA3-0BD6-4FE93C5EE5CB}"/>
              </a:ext>
            </a:extLst>
          </p:cNvPr>
          <p:cNvSpPr/>
          <p:nvPr/>
        </p:nvSpPr>
        <p:spPr>
          <a:xfrm>
            <a:off x="625067" y="4490723"/>
            <a:ext cx="10012993" cy="3955769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圓柱之渦旋誘發振動 </a:t>
            </a:r>
            <a:r>
              <a:rPr lang="en-US" altLang="zh-TW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(VIV) 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較渦輪機更適用於海流發電。</a:t>
            </a:r>
            <a:endParaRPr lang="en-US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圓柱旋轉之</a:t>
            </a:r>
            <a:r>
              <a:rPr lang="en-US" altLang="zh-TW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Magnus effect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可產生升力。</a:t>
            </a:r>
            <a:endParaRPr lang="en-US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057" indent="-457057">
              <a:lnSpc>
                <a:spcPts val="499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若讓圓柱週期性振盪旋轉，應可增大所受升力，提升發電效率。</a:t>
            </a:r>
          </a:p>
        </p:txBody>
      </p:sp>
      <p:sp>
        <p:nvSpPr>
          <p:cNvPr id="116" name="矩形: 圓角 6">
            <a:extLst>
              <a:ext uri="{FF2B5EF4-FFF2-40B4-BE49-F238E27FC236}">
                <a16:creationId xmlns:a16="http://schemas.microsoft.com/office/drawing/2014/main" xmlns="" id="{743428B2-00E8-6BA3-0BD6-4FE93C5EE5CB}"/>
              </a:ext>
            </a:extLst>
          </p:cNvPr>
          <p:cNvSpPr/>
          <p:nvPr/>
        </p:nvSpPr>
        <p:spPr>
          <a:xfrm>
            <a:off x="11063027" y="4490723"/>
            <a:ext cx="10001165" cy="3955769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>
              <a:lnSpc>
                <a:spcPts val="4998"/>
              </a:lnSpc>
              <a:spcAft>
                <a:spcPts val="1200"/>
              </a:spcAft>
            </a:pPr>
            <a:r>
              <a:rPr lang="zh-TW" altLang="en-US" sz="3300" kern="1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建立一數值模型，初步以低雷諾數流為例，分析均勻流通過圓柱產生之渦流生成、散逸以及所引起之 </a:t>
            </a:r>
            <a:r>
              <a:rPr lang="en-US" altLang="zh-TW" sz="3300" kern="1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VIV </a:t>
            </a:r>
            <a:r>
              <a:rPr lang="zh-TW" altLang="en-US" sz="3300" kern="1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現象</a:t>
            </a:r>
            <a:r>
              <a:rPr lang="zh-TW" altLang="zh-TW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並研究圓柱定速與振盪旋轉對於流體運動以及圓柱受力之影響，以尋求得以提升圓柱能量擷取之旋轉型態。</a:t>
            </a:r>
            <a:endParaRPr lang="zh-TW" altLang="zh-TW" sz="33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查看來源圖片">
            <a:extLst>
              <a:ext uri="{FF2B5EF4-FFF2-40B4-BE49-F238E27FC236}">
                <a16:creationId xmlns:a16="http://schemas.microsoft.com/office/drawing/2014/main" xmlns="" id="{DCB4B66D-92AF-9BB2-28FE-38A4EA963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62" b="91154" l="5157" r="93946">
                        <a14:foregroundMark x1="10538" y1="35000" x2="18498" y2="49615"/>
                        <a14:foregroundMark x1="20628" y1="73462" x2="21413" y2="28846"/>
                        <a14:foregroundMark x1="7623" y1="24615" x2="5717" y2="51923"/>
                        <a14:foregroundMark x1="11435" y1="33462" x2="17152" y2="34615"/>
                        <a14:foregroundMark x1="13901" y1="8462" x2="19170" y2="8462"/>
                        <a14:foregroundMark x1="16031" y1="91154" x2="16031" y2="91154"/>
                        <a14:foregroundMark x1="37780" y1="51538" x2="44731" y2="49231"/>
                        <a14:foregroundMark x1="38229" y1="38462" x2="44507" y2="38462"/>
                        <a14:foregroundMark x1="41592" y1="55769" x2="41592" y2="63077"/>
                        <a14:foregroundMark x1="53027" y1="38846" x2="52915" y2="48846"/>
                        <a14:foregroundMark x1="53812" y1="37692" x2="59081" y2="35000"/>
                        <a14:foregroundMark x1="55493" y1="44231" x2="57175" y2="43077"/>
                        <a14:foregroundMark x1="57175" y1="43077" x2="57175" y2="43077"/>
                        <a14:foregroundMark x1="57287" y1="43077" x2="57623" y2="41923"/>
                        <a14:foregroundMark x1="57848" y1="43077" x2="59417" y2="43077"/>
                        <a14:foregroundMark x1="59978" y1="44231" x2="59978" y2="44231"/>
                        <a14:foregroundMark x1="59865" y1="48462" x2="59865" y2="48462"/>
                        <a14:foregroundMark x1="57623" y1="68462" x2="57623" y2="67692"/>
                        <a14:foregroundMark x1="61099" y1="66538" x2="61099" y2="66538"/>
                        <a14:foregroundMark x1="54933" y1="65000" x2="54933" y2="65000"/>
                        <a14:foregroundMark x1="73318" y1="43846" x2="73318" y2="49615"/>
                        <a14:foregroundMark x1="75897" y1="59615" x2="78363" y2="64615"/>
                        <a14:foregroundMark x1="68386" y1="61538" x2="70740" y2="60000"/>
                        <a14:foregroundMark x1="85762" y1="72692" x2="86996" y2="73462"/>
                        <a14:foregroundMark x1="90247" y1="61154" x2="90247" y2="61154"/>
                        <a14:foregroundMark x1="88341" y1="54615" x2="88341" y2="54615"/>
                        <a14:foregroundMark x1="92489" y1="63077" x2="92489" y2="63077"/>
                        <a14:foregroundMark x1="93946" y1="49615" x2="93946" y2="49615"/>
                        <a14:foregroundMark x1="86883" y1="43077" x2="86883" y2="43077"/>
                        <a14:foregroundMark x1="85314" y1="50000" x2="85314" y2="50000"/>
                        <a14:foregroundMark x1="89013" y1="48846" x2="89013" y2="48846"/>
                        <a14:foregroundMark x1="86659" y1="61923" x2="86659" y2="61923"/>
                        <a14:foregroundMark x1="86771" y1="33077" x2="86771" y2="33077"/>
                        <a14:foregroundMark x1="90135" y1="33846" x2="90135" y2="33846"/>
                        <a14:foregroundMark x1="92825" y1="34231" x2="92825" y2="34231"/>
                        <a14:foregroundMark x1="92601" y1="43462" x2="92601" y2="43462"/>
                        <a14:foregroundMark x1="89910" y1="40769" x2="89910" y2="40769"/>
                        <a14:foregroundMark x1="18049" y1="33462" x2="20516" y2="33077"/>
                        <a14:backgroundMark x1="90359" y1="57308" x2="90359" y2="57308"/>
                        <a14:backgroundMark x1="90022" y1="36538" x2="90022" y2="36538"/>
                        <a14:backgroundMark x1="57511" y1="45769" x2="58296" y2="45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12" y="188193"/>
            <a:ext cx="7995433" cy="233111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41D20D8-1751-FDDD-BABC-5538A19D6F08}"/>
              </a:ext>
            </a:extLst>
          </p:cNvPr>
          <p:cNvSpPr/>
          <p:nvPr/>
        </p:nvSpPr>
        <p:spPr>
          <a:xfrm>
            <a:off x="6026188" y="269751"/>
            <a:ext cx="20346919" cy="21981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zh-TW" sz="8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渦旋誘發振動之能量擷取數值研</a:t>
            </a:r>
            <a:r>
              <a:rPr lang="zh-TW" altLang="en-US" sz="8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究</a:t>
            </a:r>
            <a:endParaRPr lang="en-US" altLang="zh-TW" sz="8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66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(Vortex Induced Vibration, VIV)</a:t>
            </a:r>
            <a:endParaRPr lang="zh-TW" altLang="en-US" sz="8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4D3B365D-6E03-B82D-F744-48BFC5255328}"/>
              </a:ext>
            </a:extLst>
          </p:cNvPr>
          <p:cNvSpPr/>
          <p:nvPr/>
        </p:nvSpPr>
        <p:spPr>
          <a:xfrm>
            <a:off x="3481175" y="2203607"/>
            <a:ext cx="25436945" cy="1049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指導教授：林孟郁　教授</a:t>
            </a:r>
            <a:r>
              <a:rPr lang="en-US" altLang="zh-TW" sz="38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  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組員：鄭林威　楊智鈞　邱宥展　彭騰紳　詹玉如　倪 薇　張靖英　</a:t>
            </a: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xmlns="" id="{F15655BC-585D-9063-F37A-DD58C69550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656" t="18123" r="15747" b="2825"/>
          <a:stretch/>
        </p:blipFill>
        <p:spPr>
          <a:xfrm>
            <a:off x="1597441" y="18341883"/>
            <a:ext cx="4345622" cy="277018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06884352-2F4F-B2E3-34A7-93D42FE326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443" t="18082" r="16998" b="4065"/>
          <a:stretch/>
        </p:blipFill>
        <p:spPr>
          <a:xfrm>
            <a:off x="6577878" y="18341883"/>
            <a:ext cx="4345622" cy="277018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xmlns="" id="{52B3B457-EACE-14A9-A125-8B80C98B638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549" t="20248" r="18034" b="3235"/>
          <a:stretch/>
        </p:blipFill>
        <p:spPr>
          <a:xfrm>
            <a:off x="11556620" y="18341886"/>
            <a:ext cx="4379867" cy="2791178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表格 48">
                <a:extLst>
                  <a:ext uri="{FF2B5EF4-FFF2-40B4-BE49-F238E27FC236}">
                    <a16:creationId xmlns:a16="http://schemas.microsoft.com/office/drawing/2014/main" xmlns="" id="{D6DA2220-4B53-6824-F4C2-73CCAD086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0545976"/>
                  </p:ext>
                </p:extLst>
              </p:nvPr>
            </p:nvGraphicFramePr>
            <p:xfrm>
              <a:off x="1177230" y="15274703"/>
              <a:ext cx="7450230" cy="2768570"/>
            </p:xfrm>
            <a:graphic>
              <a:graphicData uri="http://schemas.openxmlformats.org/drawingml/2006/table">
                <a:tbl>
                  <a:tblPr/>
                  <a:tblGrid>
                    <a:gridCol w="2817270">
                      <a:extLst>
                        <a:ext uri="{9D8B030D-6E8A-4147-A177-3AD203B41FA5}">
                          <a16:colId xmlns:a16="http://schemas.microsoft.com/office/drawing/2014/main" xmlns="" val="110620091"/>
                        </a:ext>
                      </a:extLst>
                    </a:gridCol>
                    <a:gridCol w="1502730">
                      <a:extLst>
                        <a:ext uri="{9D8B030D-6E8A-4147-A177-3AD203B41FA5}">
                          <a16:colId xmlns:a16="http://schemas.microsoft.com/office/drawing/2014/main" xmlns="" val="2260889394"/>
                        </a:ext>
                      </a:extLst>
                    </a:gridCol>
                    <a:gridCol w="1560510">
                      <a:extLst>
                        <a:ext uri="{9D8B030D-6E8A-4147-A177-3AD203B41FA5}">
                          <a16:colId xmlns:a16="http://schemas.microsoft.com/office/drawing/2014/main" xmlns="" val="1916576923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xmlns="" val="3519101953"/>
                        </a:ext>
                      </a:extLst>
                    </a:gridCol>
                  </a:tblGrid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固定圓柱網格數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400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14675220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0.324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0.833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0.874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41709414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-0.531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-0.859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-0.908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33401050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156.925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13430478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61.7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5.8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62790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表格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DA2220-4B53-6824-F4C2-73CCAD086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0545976"/>
                  </p:ext>
                </p:extLst>
              </p:nvPr>
            </p:nvGraphicFramePr>
            <p:xfrm>
              <a:off x="1177230" y="15274703"/>
              <a:ext cx="7450230" cy="2768570"/>
            </p:xfrm>
            <a:graphic>
              <a:graphicData uri="http://schemas.openxmlformats.org/drawingml/2006/table">
                <a:tbl>
                  <a:tblPr/>
                  <a:tblGrid>
                    <a:gridCol w="28172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0620091"/>
                        </a:ext>
                      </a:extLst>
                    </a:gridCol>
                    <a:gridCol w="150273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60889394"/>
                        </a:ext>
                      </a:extLst>
                    </a:gridCol>
                    <a:gridCol w="156051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16576923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19101953"/>
                        </a:ext>
                      </a:extLst>
                    </a:gridCol>
                  </a:tblGrid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固定圓柱網格數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400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14675220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107692" r="-164719" b="-3263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0.324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0.833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0.874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41709414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210000" r="-164719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-0.531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-0.859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-0.908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33401050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156.925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13430478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61.7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5.8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627904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矩形 52">
            <a:extLst>
              <a:ext uri="{FF2B5EF4-FFF2-40B4-BE49-F238E27FC236}">
                <a16:creationId xmlns:a16="http://schemas.microsoft.com/office/drawing/2014/main" xmlns="" id="{1ED97C01-2DEF-FFB0-6C66-D40CD9906655}"/>
              </a:ext>
            </a:extLst>
          </p:cNvPr>
          <p:cNvSpPr/>
          <p:nvPr/>
        </p:nvSpPr>
        <p:spPr>
          <a:xfrm>
            <a:off x="2643470" y="21128299"/>
            <a:ext cx="2058889" cy="58994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en-US" altLang="zh-TW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Nx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100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xmlns="" id="{BD222E7F-09E1-27E4-5BC4-84EBA6A51858}"/>
              </a:ext>
            </a:extLst>
          </p:cNvPr>
          <p:cNvSpPr/>
          <p:nvPr/>
        </p:nvSpPr>
        <p:spPr>
          <a:xfrm>
            <a:off x="12632955" y="21155189"/>
            <a:ext cx="2058889" cy="58994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en-US" altLang="zh-TW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Nx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400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xmlns="" id="{F533001C-E9ED-2467-BFE3-1FE7E47A616C}"/>
              </a:ext>
            </a:extLst>
          </p:cNvPr>
          <p:cNvSpPr/>
          <p:nvPr/>
        </p:nvSpPr>
        <p:spPr>
          <a:xfrm>
            <a:off x="7663326" y="21124582"/>
            <a:ext cx="2058889" cy="58994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en-US" altLang="zh-TW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Nx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200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xmlns="" id="{9001A1A2-A1C6-E9D0-5288-F95B0D632AF2}"/>
              </a:ext>
            </a:extLst>
          </p:cNvPr>
          <p:cNvSpPr/>
          <p:nvPr/>
        </p:nvSpPr>
        <p:spPr>
          <a:xfrm>
            <a:off x="4816029" y="14164425"/>
            <a:ext cx="9484442" cy="775174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測試網格密度大小確認數值精確度</a:t>
            </a:r>
          </a:p>
        </p:txBody>
      </p:sp>
      <p:grpSp>
        <p:nvGrpSpPr>
          <p:cNvPr id="100" name="群組 99">
            <a:extLst>
              <a:ext uri="{FF2B5EF4-FFF2-40B4-BE49-F238E27FC236}">
                <a16:creationId xmlns:a16="http://schemas.microsoft.com/office/drawing/2014/main" xmlns="" id="{5B964083-C2AD-EAA6-8986-3F8B0B4CC0E7}"/>
              </a:ext>
            </a:extLst>
          </p:cNvPr>
          <p:cNvGrpSpPr/>
          <p:nvPr/>
        </p:nvGrpSpPr>
        <p:grpSpPr>
          <a:xfrm>
            <a:off x="10519441" y="10379265"/>
            <a:ext cx="12671567" cy="3043973"/>
            <a:chOff x="19425997" y="16424662"/>
            <a:chExt cx="10487048" cy="2726869"/>
          </a:xfrm>
          <a:solidFill>
            <a:schemeClr val="bg1"/>
          </a:solidFill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xmlns="" id="{4353EE3D-4891-B8AD-F308-D972AC7FEA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23" t="6465" r="3224" b="27126"/>
            <a:stretch/>
          </p:blipFill>
          <p:spPr bwMode="auto">
            <a:xfrm>
              <a:off x="19425997" y="16424662"/>
              <a:ext cx="10487048" cy="2726869"/>
            </a:xfrm>
            <a:prstGeom prst="rect">
              <a:avLst/>
            </a:prstGeom>
            <a:grpFill/>
            <a:ln w="76200">
              <a:noFill/>
            </a:ln>
            <a:extLst/>
          </p:spPr>
        </p:pic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xmlns="" id="{2470D152-A7CE-766D-C1E7-D8441802A093}"/>
                </a:ext>
              </a:extLst>
            </p:cNvPr>
            <p:cNvCxnSpPr/>
            <p:nvPr/>
          </p:nvCxnSpPr>
          <p:spPr>
            <a:xfrm flipV="1">
              <a:off x="20640842" y="17313876"/>
              <a:ext cx="0" cy="529076"/>
            </a:xfrm>
            <a:prstGeom prst="straightConnector1">
              <a:avLst/>
            </a:prstGeom>
            <a:grpFill/>
            <a:ln w="76200">
              <a:noFill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xmlns="" id="{7FD066B3-54F9-76DA-56E0-1ABB4B38E9BE}"/>
                </a:ext>
              </a:extLst>
            </p:cNvPr>
            <p:cNvCxnSpPr/>
            <p:nvPr/>
          </p:nvCxnSpPr>
          <p:spPr>
            <a:xfrm flipV="1">
              <a:off x="20638167" y="18498319"/>
              <a:ext cx="0" cy="529076"/>
            </a:xfrm>
            <a:prstGeom prst="straightConnector1">
              <a:avLst/>
            </a:prstGeom>
            <a:grpFill/>
            <a:ln w="76200">
              <a:noFill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xmlns="" id="{FA1EE7D7-E392-B7FB-C098-90A2B401BD12}"/>
                </a:ext>
              </a:extLst>
            </p:cNvPr>
            <p:cNvSpPr txBox="1"/>
            <p:nvPr/>
          </p:nvSpPr>
          <p:spPr>
            <a:xfrm>
              <a:off x="20751113" y="17425856"/>
              <a:ext cx="654399" cy="337112"/>
            </a:xfrm>
            <a:prstGeom prst="rect">
              <a:avLst/>
            </a:prstGeom>
            <a:grp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1.5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xmlns="" id="{BE8CC162-3561-1DF7-8D30-1775EAA473DD}"/>
                </a:ext>
              </a:extLst>
            </p:cNvPr>
            <p:cNvSpPr txBox="1"/>
            <p:nvPr/>
          </p:nvSpPr>
          <p:spPr>
            <a:xfrm>
              <a:off x="20763827" y="18565370"/>
              <a:ext cx="636334" cy="337112"/>
            </a:xfrm>
            <a:prstGeom prst="rect">
              <a:avLst/>
            </a:prstGeom>
            <a:grp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1.5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xmlns="" id="{CC712191-B4AF-1D0B-435B-1C5A6D2CA985}"/>
                </a:ext>
              </a:extLst>
            </p:cNvPr>
            <p:cNvCxnSpPr/>
            <p:nvPr/>
          </p:nvCxnSpPr>
          <p:spPr>
            <a:xfrm flipH="1">
              <a:off x="19614146" y="18169080"/>
              <a:ext cx="702427" cy="0"/>
            </a:xfrm>
            <a:prstGeom prst="straightConnector1">
              <a:avLst/>
            </a:prstGeom>
            <a:grpFill/>
            <a:ln w="76200">
              <a:noFill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xmlns="" id="{01ECF933-2AE0-E866-C915-2A75F693A868}"/>
                </a:ext>
              </a:extLst>
            </p:cNvPr>
            <p:cNvSpPr txBox="1"/>
            <p:nvPr/>
          </p:nvSpPr>
          <p:spPr>
            <a:xfrm>
              <a:off x="19811802" y="17843637"/>
              <a:ext cx="247520" cy="337112"/>
            </a:xfrm>
            <a:prstGeom prst="rect">
              <a:avLst/>
            </a:prstGeom>
            <a:grpFill/>
            <a:ln w="762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xmlns="" id="{9C2DDAA0-6029-6F4B-2151-0F71B9519E92}"/>
                </a:ext>
              </a:extLst>
            </p:cNvPr>
            <p:cNvSpPr txBox="1"/>
            <p:nvPr/>
          </p:nvSpPr>
          <p:spPr>
            <a:xfrm>
              <a:off x="20444519" y="17883324"/>
              <a:ext cx="480665" cy="26969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R=1</a:t>
              </a:r>
              <a:endPara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矩形 1024">
                <a:extLst>
                  <a:ext uri="{FF2B5EF4-FFF2-40B4-BE49-F238E27FC236}">
                    <a16:creationId xmlns:a16="http://schemas.microsoft.com/office/drawing/2014/main" xmlns="" id="{49604C46-7E4C-2007-6403-4004F85E46DF}"/>
                  </a:ext>
                </a:extLst>
              </p:cNvPr>
              <p:cNvSpPr/>
              <p:nvPr/>
            </p:nvSpPr>
            <p:spPr>
              <a:xfrm>
                <a:off x="2514375" y="28807660"/>
                <a:ext cx="10734723" cy="1535512"/>
              </a:xfrm>
              <a:prstGeom prst="rect">
                <a:avLst/>
              </a:prstGeom>
              <a:solidFill>
                <a:schemeClr val="bg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2" tIns="45704" rIns="91412" bIns="45704" rtlCol="0" anchor="ctr"/>
              <a:lstStyle/>
              <a:p>
                <a:pPr marL="457057" indent="-457057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計算不同振幅及頻率組合之升力，</a:t>
                </a: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共計 </a:t>
                </a:r>
                <a:r>
                  <a:rPr lang="en-US" altLang="zh-TW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625 </a:t>
                </a: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組</a:t>
                </a: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案例。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繪出目標函數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sz="2400" dirty="0">
                            <a:solidFill>
                              <a:schemeClr val="tx1"/>
                            </a:solidFill>
                            <a:ea typeface="標楷體" panose="03000509000000000000" pitchFamily="65" charset="-120"/>
                          </a:rPr>
                          <m:t>φ</m:t>
                        </m:r>
                      </m:e>
                      <m:sup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＊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en-US" sz="24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之等值線分佈圖。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分析在何種旋轉條件下可產生最大升力振幅。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025" name="矩形 10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604C46-7E4C-2007-6403-4004F85E4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375" y="28807660"/>
                <a:ext cx="10734723" cy="1535512"/>
              </a:xfrm>
              <a:prstGeom prst="rect">
                <a:avLst/>
              </a:prstGeom>
              <a:blipFill rotWithShape="1">
                <a:blip r:embed="rId9"/>
                <a:stretch>
                  <a:fillRect l="-965" b="-5952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7" name="矩形 1026">
            <a:extLst>
              <a:ext uri="{FF2B5EF4-FFF2-40B4-BE49-F238E27FC236}">
                <a16:creationId xmlns:a16="http://schemas.microsoft.com/office/drawing/2014/main" xmlns="" id="{9E85EE5F-F05F-D84A-962E-BDA51022BF24}"/>
              </a:ext>
            </a:extLst>
          </p:cNvPr>
          <p:cNvSpPr/>
          <p:nvPr/>
        </p:nvSpPr>
        <p:spPr>
          <a:xfrm>
            <a:off x="8975112" y="35501530"/>
            <a:ext cx="6339634" cy="532121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目標函數等值線圖</a:t>
            </a:r>
          </a:p>
        </p:txBody>
      </p:sp>
      <p:pic>
        <p:nvPicPr>
          <p:cNvPr id="1029" name="圖片 1028">
            <a:extLst>
              <a:ext uri="{FF2B5EF4-FFF2-40B4-BE49-F238E27FC236}">
                <a16:creationId xmlns:a16="http://schemas.microsoft.com/office/drawing/2014/main" xmlns="" id="{9D2FB2D1-15F1-7DA1-7D26-C9B50BEEC27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95" r="3527"/>
          <a:stretch/>
        </p:blipFill>
        <p:spPr>
          <a:xfrm>
            <a:off x="24760287" y="31418774"/>
            <a:ext cx="6331478" cy="38304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矩形 1031">
                <a:extLst>
                  <a:ext uri="{FF2B5EF4-FFF2-40B4-BE49-F238E27FC236}">
                    <a16:creationId xmlns:a16="http://schemas.microsoft.com/office/drawing/2014/main" xmlns="" id="{0A137761-6080-3AFA-3CF8-9FA2A3DE7361}"/>
                  </a:ext>
                </a:extLst>
              </p:cNvPr>
              <p:cNvSpPr/>
              <p:nvPr/>
            </p:nvSpPr>
            <p:spPr>
              <a:xfrm>
                <a:off x="24934459" y="29100816"/>
                <a:ext cx="5399998" cy="2405144"/>
              </a:xfrm>
              <a:prstGeom prst="rect">
                <a:avLst/>
              </a:prstGeom>
              <a:no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2" tIns="45704" rIns="91412" bIns="45704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升力</a:t>
                </a:r>
              </a:p>
              <a:p>
                <a:pPr marL="457057" indent="-457057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角速度愈大升力就愈大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相同的</a:t>
                </a:r>
                <a14:m>
                  <m:oMath xmlns:m="http://schemas.openxmlformats.org/officeDocument/2006/math">
                    <m:r>
                      <a:rPr lang="zh-TW" altLang="en-US" sz="3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大小升力</a:t>
                </a: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相近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雷諾數大小對升力影響不大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032" name="矩形 10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137761-6080-3AFA-3CF8-9FA2A3DE7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4459" y="29100816"/>
                <a:ext cx="5399998" cy="2405144"/>
              </a:xfrm>
              <a:prstGeom prst="rect">
                <a:avLst/>
              </a:prstGeom>
              <a:blipFill rotWithShape="1">
                <a:blip r:embed="rId11"/>
                <a:stretch>
                  <a:fillRect l="-1919" t="-761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3" name="圖片 1032">
            <a:extLst>
              <a:ext uri="{FF2B5EF4-FFF2-40B4-BE49-F238E27FC236}">
                <a16:creationId xmlns:a16="http://schemas.microsoft.com/office/drawing/2014/main" xmlns="" id="{0F1ABBB4-7073-126F-E196-C192D346CAC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420" t="2699" b="3673"/>
          <a:stretch/>
        </p:blipFill>
        <p:spPr>
          <a:xfrm>
            <a:off x="17898125" y="31418774"/>
            <a:ext cx="6803245" cy="382905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6" name="文字方塊 1035">
                <a:extLst>
                  <a:ext uri="{FF2B5EF4-FFF2-40B4-BE49-F238E27FC236}">
                    <a16:creationId xmlns:a16="http://schemas.microsoft.com/office/drawing/2014/main" xmlns="" id="{52BB121A-11AD-73E9-1282-4EA91B4AF0CF}"/>
                  </a:ext>
                </a:extLst>
              </p:cNvPr>
              <p:cNvSpPr txBox="1"/>
              <p:nvPr/>
            </p:nvSpPr>
            <p:spPr>
              <a:xfrm>
                <a:off x="16927064" y="15155378"/>
                <a:ext cx="14237492" cy="677076"/>
              </a:xfrm>
              <a:prstGeom prst="rect">
                <a:avLst/>
              </a:prstGeom>
              <a:solidFill>
                <a:schemeClr val="bg1"/>
              </a:solidFill>
              <a:ln w="76200">
                <a:noFill/>
              </a:ln>
            </p:spPr>
            <p:txBody>
              <a:bodyPr wrap="square" lIns="91412" tIns="45704" rIns="91412" bIns="45704">
                <a:spAutoFit/>
              </a:bodyPr>
              <a:lstStyle/>
              <a:p>
                <a:pPr algn="ctr"/>
                <a:r>
                  <a:rPr lang="zh-TW" altLang="en-US" sz="38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圓柱角速度：定速旋轉 </a:t>
                </a:r>
                <a14:m>
                  <m:oMath xmlns:m="http://schemas.openxmlformats.org/officeDocument/2006/math">
                    <m:r>
                      <a:rPr lang="zh-TW" altLang="en-US" sz="38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TW" altLang="en-US" sz="3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為常數；振盪旋轉 </a:t>
                </a:r>
                <a14:m>
                  <m:oMath xmlns:m="http://schemas.openxmlformats.org/officeDocument/2006/math">
                    <m:r>
                      <a:rPr lang="en-US" altLang="zh-TW" sz="38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𝜔</m:t>
                    </m:r>
                    <m:r>
                      <a:rPr lang="en-US" altLang="zh-TW" sz="38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r>
                      <a:rPr lang="en-US" altLang="zh-TW" sz="38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𝐴</m:t>
                    </m:r>
                    <m:func>
                      <m:funcPr>
                        <m:ctrlPr>
                          <a:rPr lang="en-US" altLang="zh-TW" sz="3800" i="1">
                            <a:latin typeface="Cambria Math"/>
                            <a:ea typeface="標楷體" panose="03000509000000000000" pitchFamily="65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380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sin</m:t>
                        </m:r>
                      </m:fName>
                      <m:e>
                        <m:r>
                          <a:rPr lang="en-US" altLang="zh-TW" sz="3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(2</m:t>
                        </m:r>
                        <m:r>
                          <a:rPr lang="en-US" altLang="zh-TW" sz="3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𝜋</m:t>
                        </m:r>
                        <m:r>
                          <a:rPr lang="en-US" altLang="zh-TW" sz="3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𝑓𝑡</m:t>
                        </m:r>
                        <m:r>
                          <a:rPr lang="en-US" altLang="zh-TW" sz="3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)</m:t>
                        </m:r>
                      </m:e>
                    </m:func>
                  </m:oMath>
                </a14:m>
                <a:endParaRPr lang="zh-TW" altLang="en-US" sz="3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036" name="文字方塊 10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2BB121A-11AD-73E9-1282-4EA91B4AF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064" y="15155378"/>
                <a:ext cx="14237492" cy="677076"/>
              </a:xfrm>
              <a:prstGeom prst="rect">
                <a:avLst/>
              </a:prstGeom>
              <a:blipFill rotWithShape="1">
                <a:blip r:embed="rId13"/>
                <a:stretch>
                  <a:fillRect t="-14414" b="-35135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2" name="矩形: 圓角 1041">
            <a:extLst>
              <a:ext uri="{FF2B5EF4-FFF2-40B4-BE49-F238E27FC236}">
                <a16:creationId xmlns:a16="http://schemas.microsoft.com/office/drawing/2014/main" xmlns="" id="{4A5B8001-7C4B-0E66-86B1-8C88B4E248C4}"/>
              </a:ext>
            </a:extLst>
          </p:cNvPr>
          <p:cNvSpPr/>
          <p:nvPr/>
        </p:nvSpPr>
        <p:spPr>
          <a:xfrm>
            <a:off x="1211089" y="42041997"/>
            <a:ext cx="29977111" cy="12348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3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教育部高教深耕計畫補助 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指導單位</a:t>
            </a:r>
            <a:r>
              <a:rPr lang="en-US" altLang="zh-TW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教育部</a:t>
            </a:r>
            <a:r>
              <a:rPr lang="en-US" altLang="zh-TW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高等教育深耕計畫</a:t>
            </a:r>
            <a:r>
              <a:rPr lang="en-US" altLang="zh-TW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主辦單位</a:t>
            </a:r>
            <a:r>
              <a:rPr lang="en-US" altLang="zh-TW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中原大學工學院 協辦單位</a:t>
            </a:r>
            <a:r>
              <a:rPr lang="en-US" altLang="zh-TW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中原大學研發處競爭力發展中心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5" name="矩形 1044">
                <a:extLst>
                  <a:ext uri="{FF2B5EF4-FFF2-40B4-BE49-F238E27FC236}">
                    <a16:creationId xmlns:a16="http://schemas.microsoft.com/office/drawing/2014/main" xmlns="" id="{4E9B9904-0725-6A61-9CF5-19EC43987EA5}"/>
                  </a:ext>
                </a:extLst>
              </p:cNvPr>
              <p:cNvSpPr/>
              <p:nvPr/>
            </p:nvSpPr>
            <p:spPr>
              <a:xfrm>
                <a:off x="18174152" y="38034758"/>
                <a:ext cx="13024354" cy="3808592"/>
              </a:xfrm>
              <a:prstGeom prst="rect">
                <a:avLst/>
              </a:prstGeom>
              <a:solidFill>
                <a:schemeClr val="bg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2" tIns="45704" rIns="91412" bIns="45704" rtlCol="0" anchor="ctr"/>
              <a:lstStyle/>
              <a:p>
                <a:pPr marL="457057" indent="-457057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可於圓柱表面建構小型葉片，令其產生自然頻率之振盪旋轉，即可增大</a:t>
                </a: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動能</a:t>
                </a: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若圓柱振盪旋轉，當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𝑓</m:t>
                    </m:r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≤3</m:t>
                    </m:r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, </m:t>
                    </m:r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𝐴</m:t>
                    </m:r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≥1.5</m:t>
                    </m:r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時，即可顯著提升圓柱動能及發電效率。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圓柱之振盪頻率愈低且振幅愈大時，所受升力之增幅也愈大。</a:t>
                </a:r>
                <a:endParaRPr lang="en-US" altLang="zh-TW" sz="3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 smtClean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當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 = 100</a:t>
                </a: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時，固定圓柱之升力自然振盪頻率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標楷體" panose="03000509000000000000" pitchFamily="65" charset="-12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𝐿</m:t>
                            </m:r>
                          </m:sub>
                        </m:sSub>
                      </m:sub>
                    </m:sSub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≃3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457057" indent="-457057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實際海流為高雷諾數流，具有紊流效應，圓柱振盪旋轉之效能尚待後續研究。</a:t>
                </a:r>
                <a:endParaRPr lang="en-US" altLang="zh-TW" sz="2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045" name="矩形 104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E9B9904-0725-6A61-9CF5-19EC43987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4152" y="38034758"/>
                <a:ext cx="13024354" cy="3808592"/>
              </a:xfrm>
              <a:prstGeom prst="rect">
                <a:avLst/>
              </a:prstGeom>
              <a:blipFill rotWithShape="1">
                <a:blip r:embed="rId14"/>
                <a:stretch>
                  <a:fillRect l="-796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6" name="圖片 1055">
            <a:extLst>
              <a:ext uri="{FF2B5EF4-FFF2-40B4-BE49-F238E27FC236}">
                <a16:creationId xmlns:a16="http://schemas.microsoft.com/office/drawing/2014/main" xmlns="" id="{773E725E-F5B0-6DC1-1DD9-1E52415ED182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8480" t="7875" r="5543" b="6976"/>
          <a:stretch/>
        </p:blipFill>
        <p:spPr>
          <a:xfrm>
            <a:off x="1378099" y="30834171"/>
            <a:ext cx="5923501" cy="57600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sp>
        <p:nvSpPr>
          <p:cNvPr id="1059" name="文字方塊 1058">
            <a:extLst>
              <a:ext uri="{FF2B5EF4-FFF2-40B4-BE49-F238E27FC236}">
                <a16:creationId xmlns:a16="http://schemas.microsoft.com/office/drawing/2014/main" xmlns="" id="{B94EE88A-2EDB-F106-7E44-86CA3AAED1B7}"/>
              </a:ext>
            </a:extLst>
          </p:cNvPr>
          <p:cNvSpPr txBox="1"/>
          <p:nvPr/>
        </p:nvSpPr>
        <p:spPr>
          <a:xfrm>
            <a:off x="10169592" y="41081379"/>
            <a:ext cx="4378706" cy="461633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txBody>
          <a:bodyPr wrap="none" lIns="91412" tIns="45704" rIns="91412" bIns="45704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旋轉圓柱之渦度場，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f = 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" name="群組 85"/>
          <p:cNvGrpSpPr/>
          <p:nvPr/>
        </p:nvGrpSpPr>
        <p:grpSpPr>
          <a:xfrm>
            <a:off x="8064500" y="36379661"/>
            <a:ext cx="8424930" cy="4679455"/>
            <a:chOff x="7951841" y="31437787"/>
            <a:chExt cx="7814179" cy="4299758"/>
          </a:xfrm>
        </p:grpSpPr>
        <p:pic>
          <p:nvPicPr>
            <p:cNvPr id="1058" name="圖片 1057">
              <a:extLst>
                <a:ext uri="{FF2B5EF4-FFF2-40B4-BE49-F238E27FC236}">
                  <a16:creationId xmlns:a16="http://schemas.microsoft.com/office/drawing/2014/main" xmlns="" id="{66680818-38EC-DD97-6F7B-AFF96DEE95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19675" t="25500" r="15790" b="10179"/>
            <a:stretch/>
          </p:blipFill>
          <p:spPr>
            <a:xfrm>
              <a:off x="7953474" y="31448606"/>
              <a:ext cx="3844281" cy="2119364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</p:pic>
        <p:sp>
          <p:nvSpPr>
            <p:cNvPr id="1060" name="文字方塊 1059">
              <a:extLst>
                <a:ext uri="{FF2B5EF4-FFF2-40B4-BE49-F238E27FC236}">
                  <a16:creationId xmlns:a16="http://schemas.microsoft.com/office/drawing/2014/main" xmlns="" id="{577A50AF-B1EA-B415-B642-FABA4E5FE9F5}"/>
                </a:ext>
              </a:extLst>
            </p:cNvPr>
            <p:cNvSpPr txBox="1"/>
            <p:nvPr/>
          </p:nvSpPr>
          <p:spPr>
            <a:xfrm>
              <a:off x="10960252" y="31451761"/>
              <a:ext cx="819455" cy="384721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t=6.53</a:t>
              </a:r>
              <a:endParaRPr lang="zh-TW" altLang="en-US" dirty="0"/>
            </a:p>
          </p:txBody>
        </p:sp>
        <p:pic>
          <p:nvPicPr>
            <p:cNvPr id="1062" name="圖片 1061">
              <a:extLst>
                <a:ext uri="{FF2B5EF4-FFF2-40B4-BE49-F238E27FC236}">
                  <a16:creationId xmlns:a16="http://schemas.microsoft.com/office/drawing/2014/main" xmlns="" id="{17629061-5A8A-0A06-9A3D-6EABF9403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l="20197" t="27081" r="20900" b="11728"/>
            <a:stretch/>
          </p:blipFill>
          <p:spPr>
            <a:xfrm>
              <a:off x="11833493" y="31437787"/>
              <a:ext cx="3759274" cy="2130172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</p:pic>
        <p:sp>
          <p:nvSpPr>
            <p:cNvPr id="1064" name="文字方塊 1063">
              <a:extLst>
                <a:ext uri="{FF2B5EF4-FFF2-40B4-BE49-F238E27FC236}">
                  <a16:creationId xmlns:a16="http://schemas.microsoft.com/office/drawing/2014/main" xmlns="" id="{2D9FD3A3-8B43-7C4B-1FD1-97078FCB76E3}"/>
                </a:ext>
              </a:extLst>
            </p:cNvPr>
            <p:cNvSpPr txBox="1"/>
            <p:nvPr/>
          </p:nvSpPr>
          <p:spPr>
            <a:xfrm>
              <a:off x="14725937" y="31448319"/>
              <a:ext cx="1024976" cy="384721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t=6.61</a:t>
              </a:r>
              <a:endParaRPr lang="zh-TW" altLang="en-US" dirty="0"/>
            </a:p>
          </p:txBody>
        </p:sp>
        <p:pic>
          <p:nvPicPr>
            <p:cNvPr id="1066" name="圖片 1065">
              <a:extLst>
                <a:ext uri="{FF2B5EF4-FFF2-40B4-BE49-F238E27FC236}">
                  <a16:creationId xmlns:a16="http://schemas.microsoft.com/office/drawing/2014/main" xmlns="" id="{964DB5DD-846B-1BC4-50F9-0FD6EC0C64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/>
            <a:srcRect l="19510" t="23569" r="14657" b="9913"/>
            <a:stretch/>
          </p:blipFill>
          <p:spPr>
            <a:xfrm>
              <a:off x="7951841" y="33597041"/>
              <a:ext cx="3839353" cy="2140504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</p:pic>
        <p:sp>
          <p:nvSpPr>
            <p:cNvPr id="1069" name="文字方塊 1068">
              <a:extLst>
                <a:ext uri="{FF2B5EF4-FFF2-40B4-BE49-F238E27FC236}">
                  <a16:creationId xmlns:a16="http://schemas.microsoft.com/office/drawing/2014/main" xmlns="" id="{52529191-ED9F-9572-D3B7-9B876B840836}"/>
                </a:ext>
              </a:extLst>
            </p:cNvPr>
            <p:cNvSpPr txBox="1"/>
            <p:nvPr/>
          </p:nvSpPr>
          <p:spPr>
            <a:xfrm>
              <a:off x="10952928" y="33590010"/>
              <a:ext cx="819456" cy="384721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t=6.69</a:t>
              </a:r>
              <a:endParaRPr lang="zh-TW" altLang="en-US" dirty="0"/>
            </a:p>
          </p:txBody>
        </p:sp>
        <p:pic>
          <p:nvPicPr>
            <p:cNvPr id="1072" name="圖片 1071">
              <a:extLst>
                <a:ext uri="{FF2B5EF4-FFF2-40B4-BE49-F238E27FC236}">
                  <a16:creationId xmlns:a16="http://schemas.microsoft.com/office/drawing/2014/main" xmlns="" id="{1F0DCF32-47CE-E7A5-2672-FFBA18DF8B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19836" t="25051" r="18566" b="11401"/>
            <a:stretch/>
          </p:blipFill>
          <p:spPr>
            <a:xfrm>
              <a:off x="11833495" y="33597171"/>
              <a:ext cx="3767284" cy="2136901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</p:pic>
        <p:sp>
          <p:nvSpPr>
            <p:cNvPr id="1073" name="文字方塊 1072">
              <a:extLst>
                <a:ext uri="{FF2B5EF4-FFF2-40B4-BE49-F238E27FC236}">
                  <a16:creationId xmlns:a16="http://schemas.microsoft.com/office/drawing/2014/main" xmlns="" id="{662FF81A-818F-5E82-2DBF-6866B6864765}"/>
                </a:ext>
              </a:extLst>
            </p:cNvPr>
            <p:cNvSpPr txBox="1"/>
            <p:nvPr/>
          </p:nvSpPr>
          <p:spPr>
            <a:xfrm>
              <a:off x="14725938" y="33614808"/>
              <a:ext cx="1040082" cy="384721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t=6.77</a:t>
              </a:r>
              <a:endParaRPr lang="zh-TW" altLang="en-US" dirty="0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84F98345-F033-EA0D-5E8B-6175051ED932}"/>
              </a:ext>
            </a:extLst>
          </p:cNvPr>
          <p:cNvSpPr/>
          <p:nvPr/>
        </p:nvSpPr>
        <p:spPr>
          <a:xfrm>
            <a:off x="1121214" y="36379662"/>
            <a:ext cx="6339634" cy="1087764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一週期內不同時間圓柱表面壓力分佈</a:t>
            </a:r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紅實線：固定</a:t>
            </a:r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圓柱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虛線：振盪旋轉圓柱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292B09AA-9974-7D21-3DDE-82B14FED2757}"/>
              </a:ext>
            </a:extLst>
          </p:cNvPr>
          <p:cNvSpPr/>
          <p:nvPr/>
        </p:nvSpPr>
        <p:spPr>
          <a:xfrm>
            <a:off x="954284" y="30305072"/>
            <a:ext cx="5158072" cy="532121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目標函數為升力振幅之相對增大量：</a:t>
            </a: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xmlns="" id="{FA490FED-32BD-22F6-F68F-7BA04CFA511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7374" y="30438967"/>
            <a:ext cx="10183577" cy="31512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pic>
        <p:nvPicPr>
          <p:cNvPr id="33" name="Picture 3" descr="D:\user\Desktop\螢幕擷取畫面 2022-12-09 170238.jpg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751" y="21863310"/>
            <a:ext cx="7095628" cy="42408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pic>
        <p:nvPicPr>
          <p:cNvPr id="42" name="Picture 4" descr="D:\user\Desktop\螢幕擷取畫面 2022-12-09 170150.jpg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809" y="21863310"/>
            <a:ext cx="7096117" cy="42408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8681564" y="21863310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及頻率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(f)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圓柱振幅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(A)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FA0E70B0-0DFA-74A7-BA47-D9C9EF627C20}"/>
              </a:ext>
            </a:extLst>
          </p:cNvPr>
          <p:cNvSpPr/>
          <p:nvPr/>
        </p:nvSpPr>
        <p:spPr>
          <a:xfrm>
            <a:off x="1134319" y="21863310"/>
            <a:ext cx="638993" cy="2311398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圓柱未振盪</a:t>
            </a:r>
          </a:p>
        </p:txBody>
      </p:sp>
      <p:sp>
        <p:nvSpPr>
          <p:cNvPr id="65" name="五邊形 64"/>
          <p:cNvSpPr/>
          <p:nvPr/>
        </p:nvSpPr>
        <p:spPr>
          <a:xfrm>
            <a:off x="1084178" y="14039094"/>
            <a:ext cx="4036855" cy="997667"/>
          </a:xfrm>
          <a:prstGeom prst="homePlate">
            <a:avLst/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收斂性測試</a:t>
            </a:r>
          </a:p>
        </p:txBody>
      </p:sp>
      <p:sp>
        <p:nvSpPr>
          <p:cNvPr id="67" name="＞形箭號 66"/>
          <p:cNvSpPr/>
          <p:nvPr/>
        </p:nvSpPr>
        <p:spPr>
          <a:xfrm>
            <a:off x="4785352" y="14024334"/>
            <a:ext cx="981433" cy="1012427"/>
          </a:xfrm>
          <a:prstGeom prst="chevron">
            <a:avLst>
              <a:gd name="adj" fmla="val 49179"/>
            </a:avLst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7" name="五邊形 146"/>
          <p:cNvSpPr/>
          <p:nvPr/>
        </p:nvSpPr>
        <p:spPr>
          <a:xfrm>
            <a:off x="17465040" y="14039094"/>
            <a:ext cx="4036855" cy="997667"/>
          </a:xfrm>
          <a:prstGeom prst="homePlate">
            <a:avLst/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渦度與升力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xmlns="" id="{9001A1A2-A1C6-E9D0-5288-F95B0D632AF2}"/>
              </a:ext>
            </a:extLst>
          </p:cNvPr>
          <p:cNvSpPr/>
          <p:nvPr/>
        </p:nvSpPr>
        <p:spPr>
          <a:xfrm>
            <a:off x="22065673" y="14144970"/>
            <a:ext cx="7305557" cy="775174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ctr"/>
          <a:lstStyle/>
          <a:p>
            <a:pPr algn="ctr"/>
            <a:r>
              <a:rPr lang="zh-TW" altLang="en-US" sz="3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圓柱靜止、定速旋轉、振盪旋轉</a:t>
            </a:r>
            <a:endParaRPr lang="zh-TW" altLang="en-US" sz="3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2" name="＞形箭號 151"/>
          <p:cNvSpPr/>
          <p:nvPr/>
        </p:nvSpPr>
        <p:spPr>
          <a:xfrm>
            <a:off x="21197565" y="14024334"/>
            <a:ext cx="981433" cy="1012427"/>
          </a:xfrm>
          <a:prstGeom prst="chevron">
            <a:avLst>
              <a:gd name="adj" fmla="val 49179"/>
            </a:avLst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4" name="群組 73"/>
          <p:cNvGrpSpPr/>
          <p:nvPr/>
        </p:nvGrpSpPr>
        <p:grpSpPr>
          <a:xfrm>
            <a:off x="683432" y="3150415"/>
            <a:ext cx="5423021" cy="1151378"/>
            <a:chOff x="726618" y="3150415"/>
            <a:chExt cx="5423021" cy="1151378"/>
          </a:xfrm>
          <a:solidFill>
            <a:srgbClr val="003155"/>
          </a:solidFill>
        </p:grpSpPr>
        <p:sp>
          <p:nvSpPr>
            <p:cNvPr id="158" name="五邊形 157"/>
            <p:cNvSpPr/>
            <p:nvPr/>
          </p:nvSpPr>
          <p:spPr>
            <a:xfrm>
              <a:off x="726618" y="3150415"/>
              <a:ext cx="4525173" cy="115137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54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研究動機</a:t>
              </a:r>
            </a:p>
          </p:txBody>
        </p:sp>
        <p:sp>
          <p:nvSpPr>
            <p:cNvPr id="159" name="＞形箭號 158"/>
            <p:cNvSpPr/>
            <p:nvPr/>
          </p:nvSpPr>
          <p:spPr>
            <a:xfrm>
              <a:off x="4875919" y="3150415"/>
              <a:ext cx="1273720" cy="1151378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群組 75"/>
          <p:cNvGrpSpPr/>
          <p:nvPr/>
        </p:nvGrpSpPr>
        <p:grpSpPr>
          <a:xfrm>
            <a:off x="11139932" y="3150415"/>
            <a:ext cx="5423021" cy="1151378"/>
            <a:chOff x="12194290" y="3150415"/>
            <a:chExt cx="5423021" cy="1151378"/>
          </a:xfrm>
          <a:solidFill>
            <a:srgbClr val="003155"/>
          </a:solidFill>
        </p:grpSpPr>
        <p:sp>
          <p:nvSpPr>
            <p:cNvPr id="160" name="五邊形 159"/>
            <p:cNvSpPr/>
            <p:nvPr/>
          </p:nvSpPr>
          <p:spPr>
            <a:xfrm>
              <a:off x="12194290" y="3150415"/>
              <a:ext cx="4525173" cy="115137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54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研究</a:t>
              </a:r>
              <a:r>
                <a:rPr lang="zh-TW" altLang="en-US" sz="54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目的</a:t>
              </a:r>
            </a:p>
          </p:txBody>
        </p:sp>
        <p:sp>
          <p:nvSpPr>
            <p:cNvPr id="161" name="＞形箭號 160"/>
            <p:cNvSpPr/>
            <p:nvPr/>
          </p:nvSpPr>
          <p:spPr>
            <a:xfrm>
              <a:off x="16343591" y="3150415"/>
              <a:ext cx="1273720" cy="1151378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群組 74"/>
          <p:cNvGrpSpPr/>
          <p:nvPr/>
        </p:nvGrpSpPr>
        <p:grpSpPr>
          <a:xfrm>
            <a:off x="21806047" y="3150415"/>
            <a:ext cx="5423021" cy="1151378"/>
            <a:chOff x="22364094" y="3150415"/>
            <a:chExt cx="5423021" cy="1151378"/>
          </a:xfrm>
          <a:solidFill>
            <a:srgbClr val="003155"/>
          </a:solidFill>
        </p:grpSpPr>
        <p:sp>
          <p:nvSpPr>
            <p:cNvPr id="162" name="五邊形 161"/>
            <p:cNvSpPr/>
            <p:nvPr/>
          </p:nvSpPr>
          <p:spPr>
            <a:xfrm>
              <a:off x="22364094" y="3150415"/>
              <a:ext cx="4525173" cy="115137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54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研究</a:t>
              </a:r>
              <a:r>
                <a:rPr lang="zh-TW" altLang="en-US" sz="54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方法</a:t>
              </a:r>
            </a:p>
          </p:txBody>
        </p:sp>
        <p:sp>
          <p:nvSpPr>
            <p:cNvPr id="163" name="＞形箭號 162"/>
            <p:cNvSpPr/>
            <p:nvPr/>
          </p:nvSpPr>
          <p:spPr>
            <a:xfrm>
              <a:off x="26513395" y="3150415"/>
              <a:ext cx="1273720" cy="1151378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10993545" y="9293375"/>
            <a:ext cx="4682607" cy="1012427"/>
            <a:chOff x="11189487" y="9071307"/>
            <a:chExt cx="4682607" cy="1012427"/>
          </a:xfrm>
          <a:solidFill>
            <a:srgbClr val="003155"/>
          </a:solidFill>
        </p:grpSpPr>
        <p:sp>
          <p:nvSpPr>
            <p:cNvPr id="167" name="五邊形 166"/>
            <p:cNvSpPr/>
            <p:nvPr/>
          </p:nvSpPr>
          <p:spPr>
            <a:xfrm>
              <a:off x="11189487" y="9071307"/>
              <a:ext cx="4036855" cy="99766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邊界條件</a:t>
              </a:r>
            </a:p>
          </p:txBody>
        </p:sp>
        <p:sp>
          <p:nvSpPr>
            <p:cNvPr id="168" name="＞形箭號 167"/>
            <p:cNvSpPr/>
            <p:nvPr/>
          </p:nvSpPr>
          <p:spPr>
            <a:xfrm>
              <a:off x="14890661" y="9071307"/>
              <a:ext cx="981433" cy="1012427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169" name="五邊形 168"/>
          <p:cNvSpPr/>
          <p:nvPr/>
        </p:nvSpPr>
        <p:spPr>
          <a:xfrm>
            <a:off x="24081995" y="9293375"/>
            <a:ext cx="4036855" cy="997667"/>
          </a:xfrm>
          <a:prstGeom prst="homePlate">
            <a:avLst/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b="1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重要參數</a:t>
            </a:r>
            <a:endParaRPr lang="zh-TW" altLang="en-US" sz="44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0" name="＞形箭號 169"/>
          <p:cNvSpPr/>
          <p:nvPr/>
        </p:nvSpPr>
        <p:spPr>
          <a:xfrm>
            <a:off x="27783169" y="9293375"/>
            <a:ext cx="981433" cy="1012427"/>
          </a:xfrm>
          <a:prstGeom prst="chevron">
            <a:avLst>
              <a:gd name="adj" fmla="val 49179"/>
            </a:avLst>
          </a:prstGeom>
          <a:solidFill>
            <a:srgbClr val="003155"/>
          </a:solidFill>
          <a:ln>
            <a:solidFill>
              <a:srgbClr val="003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7" name="群組 76"/>
          <p:cNvGrpSpPr/>
          <p:nvPr/>
        </p:nvGrpSpPr>
        <p:grpSpPr>
          <a:xfrm>
            <a:off x="2579423" y="27819031"/>
            <a:ext cx="9553842" cy="1035768"/>
            <a:chOff x="11394241" y="28012230"/>
            <a:chExt cx="4432520" cy="1035768"/>
          </a:xfrm>
          <a:solidFill>
            <a:srgbClr val="003155"/>
          </a:solidFill>
        </p:grpSpPr>
        <p:sp>
          <p:nvSpPr>
            <p:cNvPr id="171" name="五邊形 170"/>
            <p:cNvSpPr/>
            <p:nvPr/>
          </p:nvSpPr>
          <p:spPr>
            <a:xfrm>
              <a:off x="11394241" y="28012230"/>
              <a:ext cx="4036855" cy="99766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振盪旋轉</a:t>
              </a:r>
              <a:r>
                <a:rPr lang="zh-TW" altLang="en-US" sz="4400" b="1" dirty="0" smtClean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圓柱</a:t>
              </a:r>
              <a:r>
                <a:rPr lang="en-US" altLang="zh-TW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(Re = 100 </a:t>
              </a:r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為例</a:t>
              </a:r>
              <a:r>
                <a:rPr lang="en-US" altLang="zh-TW" sz="4400" b="1" dirty="0" smtClean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en-US" altLang="zh-TW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2" name="＞形箭號 171"/>
            <p:cNvSpPr/>
            <p:nvPr/>
          </p:nvSpPr>
          <p:spPr>
            <a:xfrm>
              <a:off x="15336045" y="28035571"/>
              <a:ext cx="490716" cy="1012427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群組 80"/>
          <p:cNvGrpSpPr/>
          <p:nvPr/>
        </p:nvGrpSpPr>
        <p:grpSpPr>
          <a:xfrm>
            <a:off x="18174152" y="36762726"/>
            <a:ext cx="4682607" cy="1013105"/>
            <a:chOff x="23191008" y="36762726"/>
            <a:chExt cx="4682607" cy="1013105"/>
          </a:xfrm>
        </p:grpSpPr>
        <p:sp>
          <p:nvSpPr>
            <p:cNvPr id="175" name="五邊形 174"/>
            <p:cNvSpPr/>
            <p:nvPr/>
          </p:nvSpPr>
          <p:spPr>
            <a:xfrm>
              <a:off x="23191008" y="36762726"/>
              <a:ext cx="4036855" cy="997667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結論與建議</a:t>
              </a:r>
            </a:p>
          </p:txBody>
        </p:sp>
        <p:sp>
          <p:nvSpPr>
            <p:cNvPr id="176" name="＞形箭號 175"/>
            <p:cNvSpPr/>
            <p:nvPr/>
          </p:nvSpPr>
          <p:spPr>
            <a:xfrm>
              <a:off x="26892182" y="36763404"/>
              <a:ext cx="981433" cy="1012427"/>
            </a:xfrm>
            <a:prstGeom prst="chevron">
              <a:avLst>
                <a:gd name="adj" fmla="val 49179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178" name="群組 177"/>
          <p:cNvGrpSpPr/>
          <p:nvPr/>
        </p:nvGrpSpPr>
        <p:grpSpPr>
          <a:xfrm>
            <a:off x="18563718" y="27819031"/>
            <a:ext cx="8672474" cy="1038855"/>
            <a:chOff x="10389905" y="27955080"/>
            <a:chExt cx="4396364" cy="1038855"/>
          </a:xfrm>
          <a:solidFill>
            <a:srgbClr val="003155"/>
          </a:solidFill>
        </p:grpSpPr>
        <p:sp>
          <p:nvSpPr>
            <p:cNvPr id="179" name="五邊形 178"/>
            <p:cNvSpPr/>
            <p:nvPr/>
          </p:nvSpPr>
          <p:spPr>
            <a:xfrm>
              <a:off x="10389905" y="27955080"/>
              <a:ext cx="4036855" cy="99766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不同 </a:t>
              </a:r>
              <a:r>
                <a:rPr lang="en-US" altLang="zh-TW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Re </a:t>
              </a:r>
              <a:r>
                <a:rPr lang="zh-TW" altLang="en-US" sz="44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值之定速旋轉圓柱</a:t>
              </a:r>
            </a:p>
          </p:txBody>
        </p:sp>
        <p:sp>
          <p:nvSpPr>
            <p:cNvPr id="180" name="＞形箭號 179"/>
            <p:cNvSpPr/>
            <p:nvPr/>
          </p:nvSpPr>
          <p:spPr>
            <a:xfrm>
              <a:off x="14295553" y="27981508"/>
              <a:ext cx="490716" cy="1012427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182" name="群組 181"/>
          <p:cNvGrpSpPr/>
          <p:nvPr/>
        </p:nvGrpSpPr>
        <p:grpSpPr>
          <a:xfrm>
            <a:off x="2565452" y="9280343"/>
            <a:ext cx="6211380" cy="1010699"/>
            <a:chOff x="11115989" y="27942048"/>
            <a:chExt cx="3521615" cy="1010699"/>
          </a:xfrm>
          <a:solidFill>
            <a:srgbClr val="003155"/>
          </a:solidFill>
        </p:grpSpPr>
        <p:sp>
          <p:nvSpPr>
            <p:cNvPr id="183" name="五邊形 182"/>
            <p:cNvSpPr/>
            <p:nvPr/>
          </p:nvSpPr>
          <p:spPr>
            <a:xfrm>
              <a:off x="11115989" y="27955080"/>
              <a:ext cx="3197945" cy="997667"/>
            </a:xfrm>
            <a:prstGeom prst="homePlate">
              <a:avLst/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 smtClean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VIV</a:t>
              </a:r>
              <a:r>
                <a:rPr lang="zh-TW" altLang="en-US" sz="4400" b="1" dirty="0" smtClean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 能量擷取裝置</a:t>
              </a:r>
              <a:endPara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4" name="＞形箭號 183"/>
            <p:cNvSpPr/>
            <p:nvPr/>
          </p:nvSpPr>
          <p:spPr>
            <a:xfrm>
              <a:off x="14161590" y="27942048"/>
              <a:ext cx="476014" cy="994737"/>
            </a:xfrm>
            <a:prstGeom prst="chevron">
              <a:avLst>
                <a:gd name="adj" fmla="val 49179"/>
              </a:avLst>
            </a:prstGeom>
            <a:grpFill/>
            <a:ln>
              <a:solidFill>
                <a:srgbClr val="003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xmlns="" id="{340BD673-0052-0B99-85D4-B6EFB26CC2F0}"/>
                  </a:ext>
                </a:extLst>
              </p:cNvPr>
              <p:cNvSpPr/>
              <p:nvPr/>
            </p:nvSpPr>
            <p:spPr>
              <a:xfrm>
                <a:off x="17007843" y="19327358"/>
                <a:ext cx="4587239" cy="637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00" indent="-571500" algn="ctr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TW" alt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zh-TW" altLang="en-US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，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=200</m:t>
                    </m:r>
                  </m:oMath>
                </a14:m>
                <a:endParaRPr lang="en-US" altLang="zh-TW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0BD673-0052-0B99-85D4-B6EFB26CC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43" y="19327358"/>
                <a:ext cx="4587239" cy="637088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xmlns="" id="{DF4BF48D-0A4F-EB10-6997-9019742CE120}"/>
                  </a:ext>
                </a:extLst>
              </p:cNvPr>
              <p:cNvSpPr/>
              <p:nvPr/>
            </p:nvSpPr>
            <p:spPr>
              <a:xfrm>
                <a:off x="16929970" y="15917705"/>
                <a:ext cx="4741779" cy="637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00" indent="-571500" algn="ctr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TW" alt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TW" altLang="en-US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，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/>
                      </a:rPr>
                      <m:t>=200</m:t>
                    </m:r>
                  </m:oMath>
                </a14:m>
                <a:endParaRPr lang="en-US" altLang="zh-TW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F4BF48D-0A4F-EB10-6997-9019742CE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9970" y="15917705"/>
                <a:ext cx="4741779" cy="637088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xmlns="" id="{2EF502F4-9B45-BC90-2453-0E35FF11DC98}"/>
                  </a:ext>
                </a:extLst>
              </p:cNvPr>
              <p:cNvSpPr/>
              <p:nvPr/>
            </p:nvSpPr>
            <p:spPr>
              <a:xfrm>
                <a:off x="17195411" y="23031183"/>
                <a:ext cx="7757160" cy="7024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00" indent="-571500" algn="ctr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TW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TW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altLang="zh-TW" sz="3600" i="1">
                            <a:solidFill>
                              <a:srgbClr val="00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3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TW" sz="3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  <m:r>
                          <a:rPr lang="en-US" altLang="zh-TW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func>
                    <m:r>
                      <a:rPr lang="en-US" altLang="zh-TW" sz="3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=3, 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TW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=3, </m:t>
                    </m:r>
                  </m:oMath>
                </a14:m>
                <a:r>
                  <a:rPr lang="en-US" altLang="zh-TW" sz="3600" b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t=5</a:t>
                </a:r>
                <a:endParaRPr lang="en-US" altLang="zh-TW" sz="3600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F502F4-9B45-BC90-2453-0E35FF11D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5411" y="23031183"/>
                <a:ext cx="7757160" cy="702464"/>
              </a:xfrm>
              <a:prstGeom prst="rect">
                <a:avLst/>
              </a:prstGeom>
              <a:blipFill rotWithShape="1">
                <a:blip r:embed="rId25"/>
                <a:stretch>
                  <a:fillRect t="-8696" r="-865" b="-2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2" name="圖片 191">
            <a:extLst>
              <a:ext uri="{FF2B5EF4-FFF2-40B4-BE49-F238E27FC236}">
                <a16:creationId xmlns:a16="http://schemas.microsoft.com/office/drawing/2014/main" xmlns="" id="{F4779845-62D2-F1C4-E92D-801AE176CD7B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891" t="2191" b="3168"/>
          <a:stretch/>
        </p:blipFill>
        <p:spPr>
          <a:xfrm>
            <a:off x="18187960" y="23889525"/>
            <a:ext cx="5300851" cy="2214585"/>
          </a:xfrm>
          <a:prstGeom prst="rect">
            <a:avLst/>
          </a:prstGeom>
        </p:spPr>
      </p:pic>
      <p:pic>
        <p:nvPicPr>
          <p:cNvPr id="193" name="圖片 192">
            <a:extLst>
              <a:ext uri="{FF2B5EF4-FFF2-40B4-BE49-F238E27FC236}">
                <a16:creationId xmlns:a16="http://schemas.microsoft.com/office/drawing/2014/main" xmlns="" id="{AC47F329-4403-B3E3-2227-D891742E9DF7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3346"/>
          <a:stretch/>
        </p:blipFill>
        <p:spPr>
          <a:xfrm>
            <a:off x="18187960" y="16702321"/>
            <a:ext cx="5318525" cy="2385526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xmlns="" id="{7232DDF3-C338-C245-DDF4-D39150E38287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7169" t="29376" r="62180" b="31830"/>
          <a:stretch/>
        </p:blipFill>
        <p:spPr>
          <a:xfrm>
            <a:off x="18187960" y="20096769"/>
            <a:ext cx="5300850" cy="26910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194">
                <a:extLst>
                  <a:ext uri="{FF2B5EF4-FFF2-40B4-BE49-F238E27FC236}">
                    <a16:creationId xmlns:a16="http://schemas.microsoft.com/office/drawing/2014/main" xmlns="" id="{B980658F-6517-9073-DEFC-CF595B2AA3F5}"/>
                  </a:ext>
                </a:extLst>
              </p:cNvPr>
              <p:cNvSpPr txBox="1"/>
              <p:nvPr/>
            </p:nvSpPr>
            <p:spPr>
              <a:xfrm>
                <a:off x="24372065" y="11282564"/>
                <a:ext cx="4622569" cy="189551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3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升</a:t>
                </a:r>
                <a:r>
                  <a:rPr kumimoji="1" lang="zh-TW" altLang="en-US" sz="3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力係數 </a:t>
                </a:r>
                <a:r>
                  <a:rPr kumimoji="1" lang="en-US" altLang="zh-TW" sz="3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C</a:t>
                </a:r>
                <a:r>
                  <a:rPr kumimoji="1" lang="en-US" altLang="zh-TW" sz="3800" baseline="-25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L</a:t>
                </a:r>
                <a14:m>
                  <m:oMath xmlns:m="http://schemas.openxmlformats.org/officeDocument/2006/math">
                    <m:r>
                      <a:rPr kumimoji="1" lang="en-US" altLang="zh-TW" sz="3800" i="1">
                        <a:latin typeface="Cambria Math"/>
                        <a:ea typeface="標楷體" panose="03000509000000000000" pitchFamily="65" charset="-120"/>
                      </a:rPr>
                      <m:t>=</m:t>
                    </m:r>
                    <m:f>
                      <m:fPr>
                        <m:ctrlPr>
                          <a:rPr kumimoji="1" lang="en-US" altLang="zh-TW" sz="3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kumimoji="1" lang="en-US" altLang="zh-TW" sz="38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kumimoji="1" lang="en-US" altLang="zh-TW" sz="3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kumimoji="1" lang="en-US" altLang="zh-TW" sz="3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TW" sz="3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kumimoji="1" lang="zh-TW" altLang="en-US" sz="380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kumimoji="1" lang="en-US" altLang="zh-TW" sz="3800" i="1" smtClean="0">
                                <a:latin typeface="Cambria Math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zh-TW" sz="38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TW" sz="38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zh-TW" sz="3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TW" sz="3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kumimoji="1" lang="en-US" altLang="zh-TW" sz="3800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kumimoji="1" lang="zh-TW" altLang="en-US" sz="3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阻力係數 </a:t>
                </a:r>
                <a:r>
                  <a:rPr kumimoji="1" lang="en-US" altLang="zh-TW" sz="3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C</a:t>
                </a:r>
                <a:r>
                  <a:rPr kumimoji="1" lang="en-US" altLang="zh-TW" sz="3800" baseline="-25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D</a:t>
                </a:r>
                <a14:m>
                  <m:oMath xmlns:m="http://schemas.openxmlformats.org/officeDocument/2006/math">
                    <m:r>
                      <a:rPr kumimoji="1" lang="en-US" altLang="zh-TW" sz="3800" i="1">
                        <a:latin typeface="Cambria Math"/>
                        <a:ea typeface="標楷體" panose="03000509000000000000" pitchFamily="65" charset="-120"/>
                      </a:rPr>
                      <m:t>=</m:t>
                    </m:r>
                    <m:f>
                      <m:fPr>
                        <m:ctrlPr>
                          <a:rPr kumimoji="1" lang="en-US" altLang="zh-TW" sz="3800" i="1">
                            <a:latin typeface="Cambria Math"/>
                          </a:rPr>
                        </m:ctrlPr>
                      </m:fPr>
                      <m:num>
                        <m:r>
                          <a:rPr kumimoji="1" lang="en-US" altLang="zh-TW" sz="38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kumimoji="1" lang="en-US" altLang="zh-TW" sz="3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kumimoji="1" lang="en-US" altLang="zh-TW" sz="3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TW" sz="3800" b="0" i="1" smtClean="0">
                                <a:latin typeface="Cambria Math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kumimoji="1" lang="zh-TW" altLang="en-US" sz="3800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kumimoji="1" lang="en-US" altLang="zh-TW" sz="3800" i="1">
                                <a:latin typeface="Cambria Math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zh-TW" sz="38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TW" sz="38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zh-TW" sz="3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TW" sz="3800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kumimoji="1" lang="zh-TW" altLang="en-US" sz="3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195" name="文字方塊 19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980658F-6517-9073-DEFC-CF595B2AA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2065" y="11282564"/>
                <a:ext cx="4622569" cy="1895519"/>
              </a:xfrm>
              <a:prstGeom prst="rect">
                <a:avLst/>
              </a:prstGeom>
              <a:blipFill rotWithShape="1">
                <a:blip r:embed="rId29"/>
                <a:stretch>
                  <a:fillRect l="-4222" b="-128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" name="Picture 5" descr="D:\user\Desktop\螢幕擷取畫面 2022-12-09 222757.jpg"/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4" t="3381" b="8354"/>
          <a:stretch/>
        </p:blipFill>
        <p:spPr bwMode="auto">
          <a:xfrm>
            <a:off x="1390185" y="37570311"/>
            <a:ext cx="6213814" cy="343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xmlns="" id="{0DBB0851-0BF9-8367-3024-2C287A5606D7}"/>
                  </a:ext>
                </a:extLst>
              </p:cNvPr>
              <p:cNvSpPr/>
              <p:nvPr/>
            </p:nvSpPr>
            <p:spPr>
              <a:xfrm rot="16200000">
                <a:off x="911891" y="39122947"/>
                <a:ext cx="889300" cy="688910"/>
              </a:xfrm>
              <a:prstGeom prst="rect">
                <a:avLst/>
              </a:prstGeom>
              <a:no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m:t>C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xmlns="" id="{0DBB0851-0BF9-8367-3024-2C287A5606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1891" y="39122947"/>
                <a:ext cx="889300" cy="68891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92"/>
          <p:cNvGrpSpPr/>
          <p:nvPr/>
        </p:nvGrpSpPr>
        <p:grpSpPr>
          <a:xfrm>
            <a:off x="7648586" y="30885144"/>
            <a:ext cx="9075277" cy="4904054"/>
            <a:chOff x="7851787" y="31024845"/>
            <a:chExt cx="8675304" cy="4255220"/>
          </a:xfrm>
        </p:grpSpPr>
        <p:grpSp>
          <p:nvGrpSpPr>
            <p:cNvPr id="92" name="群組 91"/>
            <p:cNvGrpSpPr/>
            <p:nvPr/>
          </p:nvGrpSpPr>
          <p:grpSpPr>
            <a:xfrm>
              <a:off x="7881736" y="31258107"/>
              <a:ext cx="8645355" cy="4021958"/>
              <a:chOff x="7364994" y="36365074"/>
              <a:chExt cx="8645355" cy="4021958"/>
            </a:xfrm>
          </p:grpSpPr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xmlns="" id="{0DBB0851-0BF9-8367-3024-2C287A5606D7}"/>
                  </a:ext>
                </a:extLst>
              </p:cNvPr>
              <p:cNvSpPr/>
              <p:nvPr/>
            </p:nvSpPr>
            <p:spPr>
              <a:xfrm>
                <a:off x="7364994" y="37738105"/>
                <a:ext cx="889300" cy="688910"/>
              </a:xfrm>
              <a:prstGeom prst="rect">
                <a:avLst/>
              </a:prstGeom>
              <a:no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f 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xmlns="" id="{0DBB0851-0BF9-8367-3024-2C287A5606D7}"/>
                  </a:ext>
                </a:extLst>
              </p:cNvPr>
              <p:cNvSpPr/>
              <p:nvPr/>
            </p:nvSpPr>
            <p:spPr>
              <a:xfrm>
                <a:off x="14572107" y="39698122"/>
                <a:ext cx="889300" cy="688910"/>
              </a:xfrm>
              <a:prstGeom prst="rect">
                <a:avLst/>
              </a:prstGeom>
              <a:no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90" name="Picture 6" descr="D:\user\Desktop\螢幕擷取畫面 2022-12-09 224426.jpg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81736" y="36365074"/>
                <a:ext cx="8128613" cy="36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xmlns="" id="{10A51F6F-BC37-5544-17ED-F3F2B7FA251F}"/>
                  </a:ext>
                </a:extLst>
              </p:cNvPr>
              <p:cNvSpPr txBox="1"/>
              <p:nvPr/>
            </p:nvSpPr>
            <p:spPr>
              <a:xfrm>
                <a:off x="9407839" y="37642482"/>
                <a:ext cx="4375381" cy="954075"/>
              </a:xfrm>
              <a:prstGeom prst="rect">
                <a:avLst/>
              </a:prstGeom>
              <a:noFill/>
              <a:ln w="76200">
                <a:noFill/>
              </a:ln>
            </p:spPr>
            <p:txBody>
              <a:bodyPr wrap="square" lIns="91412" tIns="45704" rIns="91412" bIns="45704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/>
                </a:sp3d>
              </a:bodyPr>
              <a:lstStyle/>
              <a:p>
                <a:pPr algn="ctr"/>
                <a:r>
                  <a:rPr kumimoji="1"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升力振幅隨 </a:t>
                </a:r>
                <a:r>
                  <a:rPr kumimoji="1" lang="en-US" altLang="zh-TW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A </a:t>
                </a:r>
                <a:r>
                  <a:rPr kumimoji="1"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增加</a:t>
                </a:r>
                <a:endParaRPr kumimoji="1" lang="en-US" altLang="zh-TW" sz="2800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algn="ctr"/>
                <a:r>
                  <a:rPr kumimoji="1"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及 </a:t>
                </a:r>
                <a:r>
                  <a:rPr kumimoji="1" lang="en-US" altLang="zh-TW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f </a:t>
                </a:r>
                <a:r>
                  <a:rPr kumimoji="1"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減小而增大</a:t>
                </a:r>
                <a:endParaRPr kumimoji="1"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xmlns="" id="{0DBB0851-0BF9-8367-3024-2C287A5606D7}"/>
                  </a:ext>
                </a:extLst>
              </p:cNvPr>
              <p:cNvSpPr/>
              <p:nvPr/>
            </p:nvSpPr>
            <p:spPr>
              <a:xfrm>
                <a:off x="11231287" y="39698122"/>
                <a:ext cx="889300" cy="688910"/>
              </a:xfrm>
              <a:prstGeom prst="rect">
                <a:avLst/>
              </a:prstGeom>
              <a:no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A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xmlns="" id="{0DBB0851-0BF9-8367-3024-2C287A5606D7}"/>
                </a:ext>
              </a:extLst>
            </p:cNvPr>
            <p:cNvSpPr/>
            <p:nvPr/>
          </p:nvSpPr>
          <p:spPr>
            <a:xfrm>
              <a:off x="7890616" y="31024845"/>
              <a:ext cx="889300" cy="688910"/>
            </a:xfrm>
            <a:prstGeom prst="rect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xmlns="" id="{0DBB0851-0BF9-8367-3024-2C287A5606D7}"/>
                </a:ext>
              </a:extLst>
            </p:cNvPr>
            <p:cNvSpPr/>
            <p:nvPr/>
          </p:nvSpPr>
          <p:spPr>
            <a:xfrm>
              <a:off x="7851787" y="34509636"/>
              <a:ext cx="889300" cy="688910"/>
            </a:xfrm>
            <a:prstGeom prst="rect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0.2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14" name="矩形 213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0A137761-6080-3AFA-3CF8-9FA2A3DE7361}"/>
              </a:ext>
            </a:extLst>
          </p:cNvPr>
          <p:cNvSpPr/>
          <p:nvPr/>
        </p:nvSpPr>
        <p:spPr>
          <a:xfrm>
            <a:off x="18263309" y="29100816"/>
            <a:ext cx="5399998" cy="2405144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4" rIns="91412" bIns="45704" rtlCol="0" anchor="t"/>
          <a:lstStyle/>
          <a:p>
            <a:pPr algn="ctr">
              <a:lnSpc>
                <a:spcPct val="120000"/>
              </a:lnSpc>
            </a:pP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阻力</a:t>
            </a:r>
          </a:p>
          <a:p>
            <a:pPr marL="457057" indent="-457057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角速度愈大阻力就愈大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057" indent="-457057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雷諾數上升阻力會下降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057" indent="-457057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雷諾數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&gt;150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變化幅度低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xmlns="" id="{0DBB0851-0BF9-8367-3024-2C287A5606D7}"/>
              </a:ext>
            </a:extLst>
          </p:cNvPr>
          <p:cNvSpPr/>
          <p:nvPr/>
        </p:nvSpPr>
        <p:spPr>
          <a:xfrm>
            <a:off x="3997794" y="40794978"/>
            <a:ext cx="889300" cy="688910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Time(s)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8" name="表格 217">
                <a:extLst>
                  <a:ext uri="{FF2B5EF4-FFF2-40B4-BE49-F238E27FC236}">
                    <a16:creationId xmlns:a16="http://schemas.microsoft.com/office/drawing/2014/main" xmlns="" id="{D6DA2220-4B53-6824-F4C2-73CCAD086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4553321"/>
                  </p:ext>
                </p:extLst>
              </p:nvPr>
            </p:nvGraphicFramePr>
            <p:xfrm>
              <a:off x="8992365" y="15274703"/>
              <a:ext cx="7450230" cy="2768570"/>
            </p:xfrm>
            <a:graphic>
              <a:graphicData uri="http://schemas.openxmlformats.org/drawingml/2006/table">
                <a:tbl>
                  <a:tblPr/>
                  <a:tblGrid>
                    <a:gridCol w="2817270">
                      <a:extLst>
                        <a:ext uri="{9D8B030D-6E8A-4147-A177-3AD203B41FA5}">
                          <a16:colId xmlns:a16="http://schemas.microsoft.com/office/drawing/2014/main" xmlns="" val="110620091"/>
                        </a:ext>
                      </a:extLst>
                    </a:gridCol>
                    <a:gridCol w="1502730">
                      <a:extLst>
                        <a:ext uri="{9D8B030D-6E8A-4147-A177-3AD203B41FA5}">
                          <a16:colId xmlns:a16="http://schemas.microsoft.com/office/drawing/2014/main" xmlns="" val="2260889394"/>
                        </a:ext>
                      </a:extLst>
                    </a:gridCol>
                    <a:gridCol w="1560510">
                      <a:extLst>
                        <a:ext uri="{9D8B030D-6E8A-4147-A177-3AD203B41FA5}">
                          <a16:colId xmlns:a16="http://schemas.microsoft.com/office/drawing/2014/main" xmlns="" val="1916576923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xmlns="" val="3519101953"/>
                        </a:ext>
                      </a:extLst>
                    </a:gridCol>
                  </a:tblGrid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旋轉圓柱網格數</a:t>
                          </a:r>
                          <a:endParaRPr lang="zh-TW" alt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DFKai-SB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400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14675220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7.325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8.383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8.674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41709414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FKai-SB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-6.644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-7.624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-7.7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33401050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14.447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3.468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13430478"/>
                      </a:ext>
                    </a:extLst>
                  </a:tr>
                  <a:tr h="4608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13.378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62790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8" name="表格 2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DA2220-4B53-6824-F4C2-73CCAD086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4553321"/>
                  </p:ext>
                </p:extLst>
              </p:nvPr>
            </p:nvGraphicFramePr>
            <p:xfrm>
              <a:off x="8992365" y="15274703"/>
              <a:ext cx="7450230" cy="2768570"/>
            </p:xfrm>
            <a:graphic>
              <a:graphicData uri="http://schemas.openxmlformats.org/drawingml/2006/table">
                <a:tbl>
                  <a:tblPr/>
                  <a:tblGrid>
                    <a:gridCol w="28172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0620091"/>
                        </a:ext>
                      </a:extLst>
                    </a:gridCol>
                    <a:gridCol w="150273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60889394"/>
                        </a:ext>
                      </a:extLst>
                    </a:gridCol>
                    <a:gridCol w="156051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16576923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19101953"/>
                        </a:ext>
                      </a:extLst>
                    </a:gridCol>
                  </a:tblGrid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旋轉圓柱網格數</a:t>
                          </a:r>
                          <a:endParaRPr lang="zh-TW" alt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DFKai-SB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8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Nx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400</a:t>
                          </a:r>
                          <a:endParaRPr 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14675220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3"/>
                          <a:stretch>
                            <a:fillRect t="-107692" r="-164719" b="-3263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7.325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8.383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8.674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41709414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3"/>
                          <a:stretch>
                            <a:fillRect t="-210000" r="-164719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-6.644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-7.624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-7.7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33401050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最大值變化率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14.447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3.468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13430478"/>
                      </a:ext>
                    </a:extLst>
                  </a:tr>
                  <a:tr h="553714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TW" altLang="en-US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最小值變化率</a:t>
                          </a:r>
                          <a:r>
                            <a:rPr lang="en-US" altLang="zh-TW" sz="2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zh-TW" altLang="en-US" sz="28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13.378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TW" sz="2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DFKai-SB" panose="03000509000000000000" pitchFamily="65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altLang="en-US" sz="28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502" marR="63502" marT="63497" marB="63497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627904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5" name="Picture 8" descr="D:\user\Downloads\螢幕擷取畫面 2022-12-09 232031.jpg"/>
          <p:cNvPicPr>
            <a:picLocks noChangeAspect="1" noChangeArrowheads="1"/>
          </p:cNvPicPr>
          <p:nvPr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" t="1786" b="1591"/>
          <a:stretch/>
        </p:blipFill>
        <p:spPr bwMode="auto">
          <a:xfrm>
            <a:off x="24955711" y="16210849"/>
            <a:ext cx="5503647" cy="310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9" descr="D:\user\Downloads\螢幕擷取畫面 2022-12-09 223533.png"/>
          <p:cNvPicPr>
            <a:picLocks noChangeAspect="1" noChangeArrowheads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" t="9911" r="-4293" b="499"/>
          <a:stretch/>
        </p:blipFill>
        <p:spPr bwMode="auto">
          <a:xfrm>
            <a:off x="24881255" y="20052123"/>
            <a:ext cx="5828285" cy="31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10" descr="D:\user\Desktop\螢幕擷取畫面 2022-12-09 232634.jpg"/>
          <p:cNvPicPr>
            <a:picLocks noChangeAspect="1" noChangeArrowheads="1"/>
          </p:cNvPicPr>
          <p:nvPr/>
        </p:nvPicPr>
        <p:blipFill rotWithShape="1"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1220" b="100000" l="0" r="100000">
                        <a14:foregroundMark x1="4202" y1="25732" x2="7977" y2="80244"/>
                        <a14:foregroundMark x1="3989" y1="6341" x2="74430" y2="1220"/>
                        <a14:foregroundMark x1="47507" y1="10244" x2="88889" y2="4878"/>
                        <a14:foregroundMark x1="6197" y1="22195" x2="20228" y2="12561"/>
                        <a14:foregroundMark x1="25641" y1="14146" x2="33120" y2="20488"/>
                        <a14:foregroundMark x1="40883" y1="14268" x2="51852" y2="14756"/>
                        <a14:foregroundMark x1="35613" y1="13902" x2="38604" y2="21220"/>
                        <a14:foregroundMark x1="58048" y1="13537" x2="61610" y2="19878"/>
                        <a14:foregroundMark x1="68447" y1="12561" x2="70940" y2="20488"/>
                        <a14:foregroundMark x1="77849" y1="13902" x2="80342" y2="18537"/>
                        <a14:foregroundMark x1="91311" y1="15122" x2="97151" y2="20854"/>
                        <a14:foregroundMark x1="94444" y1="24146" x2="98789" y2="22805"/>
                        <a14:foregroundMark x1="8903" y1="89878" x2="93519" y2="89146"/>
                        <a14:foregroundMark x1="96724" y1="89512" x2="97151" y2="89146"/>
                        <a14:foregroundMark x1="96581" y1="89146" x2="98077" y2="88537"/>
                        <a14:foregroundMark x1="96368" y1="88171" x2="96937" y2="91098"/>
                        <a14:foregroundMark x1="96368" y1="89878" x2="98433" y2="90610"/>
                        <a14:foregroundMark x1="98362" y1="90610" x2="98362" y2="90610"/>
                        <a14:foregroundMark x1="8547" y1="67805" x2="12963" y2="64756"/>
                        <a14:backgroundMark x1="87536" y1="96463" x2="96083" y2="96220"/>
                        <a14:backgroundMark x1="95726" y1="96098" x2="99858" y2="891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006"/>
          <a:stretch/>
        </p:blipFill>
        <p:spPr bwMode="auto">
          <a:xfrm>
            <a:off x="24631074" y="23688747"/>
            <a:ext cx="5828285" cy="31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Picture 9" descr="D:\user\Downloads\螢幕擷取畫面 2022-12-09 223533.png"/>
          <p:cNvPicPr>
            <a:picLocks noChangeAspect="1" noChangeArrowheads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2" r="95484" b="32125"/>
          <a:stretch/>
        </p:blipFill>
        <p:spPr bwMode="auto">
          <a:xfrm>
            <a:off x="24692510" y="24115310"/>
            <a:ext cx="263201" cy="162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矩形 222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17242303" y="16184526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渦度圖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17242303" y="23303237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渦度圖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17242303" y="19758041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渦度圖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23633362" y="16057526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係數圖</a:t>
            </a:r>
            <a:endParaRPr lang="en-US" altLang="zh-TW" sz="2400" dirty="0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升力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、阻力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23633362" y="23176237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係數圖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升力、阻力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xmlns="" id="{3084545C-55C7-E706-36A5-BE3FF86C548E}"/>
              </a:ext>
            </a:extLst>
          </p:cNvPr>
          <p:cNvSpPr/>
          <p:nvPr/>
        </p:nvSpPr>
        <p:spPr>
          <a:xfrm>
            <a:off x="23633362" y="19631041"/>
            <a:ext cx="1299621" cy="3421115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91412" tIns="45704" rIns="91412" bIns="45704"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係數圖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升力、阻力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29" name="Picture 9" descr="D:\user\Downloads\螢幕擷取畫面 2022-12-09 223533.png"/>
          <p:cNvPicPr>
            <a:picLocks noChangeAspect="1" noChangeArrowheads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2" r="95484" b="32125"/>
          <a:stretch/>
        </p:blipFill>
        <p:spPr bwMode="auto">
          <a:xfrm>
            <a:off x="24692510" y="20454099"/>
            <a:ext cx="263201" cy="162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9" descr="D:\user\Downloads\螢幕擷取畫面 2022-12-09 223533.png"/>
          <p:cNvPicPr>
            <a:picLocks noChangeAspect="1" noChangeArrowheads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2" r="95484" b="32125"/>
          <a:stretch/>
        </p:blipFill>
        <p:spPr bwMode="auto">
          <a:xfrm>
            <a:off x="24692510" y="16702321"/>
            <a:ext cx="263201" cy="162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8" name="群組 117"/>
          <p:cNvGrpSpPr/>
          <p:nvPr/>
        </p:nvGrpSpPr>
        <p:grpSpPr>
          <a:xfrm>
            <a:off x="3038880" y="10329948"/>
            <a:ext cx="4950992" cy="3574519"/>
            <a:chOff x="3115269" y="10227797"/>
            <a:chExt cx="4950992" cy="3574519"/>
          </a:xfrm>
        </p:grpSpPr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xmlns="" id="{8E1F856F-D02E-DDD0-30F9-54E0465D7B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16" b="2405"/>
            <a:stretch/>
          </p:blipFill>
          <p:spPr>
            <a:xfrm>
              <a:off x="3115269" y="10416467"/>
              <a:ext cx="4950992" cy="3385849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</p:pic>
        <p:sp>
          <p:nvSpPr>
            <p:cNvPr id="117" name="文字方塊 116"/>
            <p:cNvSpPr txBox="1"/>
            <p:nvPr/>
          </p:nvSpPr>
          <p:spPr>
            <a:xfrm>
              <a:off x="4626070" y="10541522"/>
              <a:ext cx="1021556" cy="3847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/>
                <a:t>      </a:t>
              </a:r>
              <a:endParaRPr lang="zh-TW" altLang="en-US" b="1" dirty="0"/>
            </a:p>
          </p:txBody>
        </p:sp>
        <p:sp>
          <p:nvSpPr>
            <p:cNvPr id="232" name="文字方塊 231"/>
            <p:cNvSpPr txBox="1"/>
            <p:nvPr/>
          </p:nvSpPr>
          <p:spPr>
            <a:xfrm>
              <a:off x="3777799" y="10227797"/>
              <a:ext cx="7192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彈簧</a:t>
              </a:r>
              <a:endParaRPr lang="zh-TW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33" name="文字方塊 232"/>
            <p:cNvSpPr txBox="1"/>
            <p:nvPr/>
          </p:nvSpPr>
          <p:spPr>
            <a:xfrm>
              <a:off x="4620206" y="10553771"/>
              <a:ext cx="7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洋流</a:t>
              </a:r>
              <a:endParaRPr lang="zh-TW" altLang="en-US" sz="1600" b="1" dirty="0"/>
            </a:p>
          </p:txBody>
        </p:sp>
        <p:sp>
          <p:nvSpPr>
            <p:cNvPr id="234" name="文字方塊 233"/>
            <p:cNvSpPr txBox="1"/>
            <p:nvPr/>
          </p:nvSpPr>
          <p:spPr>
            <a:xfrm>
              <a:off x="6127237" y="10372245"/>
              <a:ext cx="6807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彈簧</a:t>
              </a:r>
              <a:endParaRPr lang="zh-TW" altLang="en-US" sz="1600" b="1" dirty="0"/>
            </a:p>
          </p:txBody>
        </p:sp>
        <p:sp>
          <p:nvSpPr>
            <p:cNvPr id="235" name="文字方塊 234"/>
            <p:cNvSpPr txBox="1"/>
            <p:nvPr/>
          </p:nvSpPr>
          <p:spPr>
            <a:xfrm>
              <a:off x="5746641" y="11987073"/>
              <a:ext cx="79703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圓柱體</a:t>
              </a:r>
              <a:endParaRPr lang="zh-TW" altLang="en-US" sz="1600" b="1" dirty="0"/>
            </a:p>
          </p:txBody>
        </p:sp>
        <p:sp>
          <p:nvSpPr>
            <p:cNvPr id="236" name="文字方塊 235"/>
            <p:cNvSpPr txBox="1"/>
            <p:nvPr/>
          </p:nvSpPr>
          <p:spPr>
            <a:xfrm>
              <a:off x="4412644" y="13341563"/>
              <a:ext cx="90318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發電機</a:t>
              </a:r>
              <a:endParaRPr lang="zh-TW" altLang="en-US" sz="1600" b="1" dirty="0"/>
            </a:p>
          </p:txBody>
        </p:sp>
        <p:sp>
          <p:nvSpPr>
            <p:cNvPr id="237" name="文字方塊 236"/>
            <p:cNvSpPr txBox="1"/>
            <p:nvPr/>
          </p:nvSpPr>
          <p:spPr>
            <a:xfrm>
              <a:off x="3186335" y="12305118"/>
              <a:ext cx="10218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 smtClean="0"/>
                <a:t>傳動機構</a:t>
              </a:r>
              <a:endParaRPr lang="zh-TW" altLang="en-US" sz="1600" b="1" dirty="0"/>
            </a:p>
          </p:txBody>
        </p:sp>
      </p:grpSp>
      <p:pic>
        <p:nvPicPr>
          <p:cNvPr id="1035" name="Picture 11" descr="D:\user\Downloads\qrcode (1).png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9359" y="13104266"/>
            <a:ext cx="1800000" cy="1800000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9" name="群組 238"/>
          <p:cNvGrpSpPr/>
          <p:nvPr/>
        </p:nvGrpSpPr>
        <p:grpSpPr>
          <a:xfrm rot="2423142">
            <a:off x="24324298" y="36675360"/>
            <a:ext cx="1648598" cy="1341432"/>
            <a:chOff x="26322200" y="36493414"/>
            <a:chExt cx="1797089" cy="1611432"/>
          </a:xfrm>
          <a:solidFill>
            <a:schemeClr val="accent5">
              <a:lumMod val="60000"/>
              <a:lumOff val="40000"/>
            </a:schemeClr>
          </a:solidFill>
        </p:grpSpPr>
        <p:cxnSp>
          <p:nvCxnSpPr>
            <p:cNvPr id="123" name="弧形接點 122"/>
            <p:cNvCxnSpPr/>
            <p:nvPr/>
          </p:nvCxnSpPr>
          <p:spPr>
            <a:xfrm rot="7200000" flipH="1" flipV="1">
              <a:off x="26327667" y="36847425"/>
              <a:ext cx="529069" cy="540003"/>
            </a:xfrm>
            <a:prstGeom prst="curvedConnector2">
              <a:avLst/>
            </a:prstGeom>
            <a:grpFill/>
            <a:ln w="76200">
              <a:solidFill>
                <a:srgbClr val="0031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弧形接點 245"/>
            <p:cNvCxnSpPr/>
            <p:nvPr/>
          </p:nvCxnSpPr>
          <p:spPr>
            <a:xfrm flipV="1">
              <a:off x="27590220" y="36493414"/>
              <a:ext cx="529069" cy="540003"/>
            </a:xfrm>
            <a:prstGeom prst="curvedConnector2">
              <a:avLst/>
            </a:prstGeom>
            <a:grpFill/>
            <a:ln w="76200">
              <a:solidFill>
                <a:srgbClr val="0031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弧形接點 248"/>
            <p:cNvCxnSpPr/>
            <p:nvPr/>
          </p:nvCxnSpPr>
          <p:spPr>
            <a:xfrm rot="1800000" flipH="1" flipV="1">
              <a:off x="27189824" y="37564843"/>
              <a:ext cx="529069" cy="540003"/>
            </a:xfrm>
            <a:prstGeom prst="curvedConnector2">
              <a:avLst/>
            </a:prstGeom>
            <a:grpFill/>
            <a:ln w="76200">
              <a:solidFill>
                <a:srgbClr val="0031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橢圓 118"/>
            <p:cNvSpPr/>
            <p:nvPr/>
          </p:nvSpPr>
          <p:spPr>
            <a:xfrm>
              <a:off x="26785595" y="36667079"/>
              <a:ext cx="914352" cy="1008000"/>
            </a:xfrm>
            <a:prstGeom prst="ellipse">
              <a:avLst/>
            </a:prstGeom>
            <a:grpFill/>
            <a:ln w="76200">
              <a:solidFill>
                <a:srgbClr val="003155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48" name="直線單箭頭接點 247"/>
          <p:cNvCxnSpPr/>
          <p:nvPr/>
        </p:nvCxnSpPr>
        <p:spPr>
          <a:xfrm flipH="1">
            <a:off x="26435269" y="37357369"/>
            <a:ext cx="1758077" cy="4025"/>
          </a:xfrm>
          <a:prstGeom prst="straightConnector1">
            <a:avLst/>
          </a:prstGeom>
          <a:ln w="76200">
            <a:solidFill>
              <a:srgbClr val="00315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文字方塊 1046"/>
          <p:cNvSpPr txBox="1"/>
          <p:nvPr/>
        </p:nvSpPr>
        <p:spPr>
          <a:xfrm>
            <a:off x="27009907" y="3689913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葉片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4411463" y="10277781"/>
                <a:ext cx="4855112" cy="1028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TW" altLang="en-US" sz="3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雷諾數  </a:t>
                </a:r>
                <a:r>
                  <a:rPr kumimoji="1" lang="en-US" altLang="zh-TW" sz="3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Re</a:t>
                </a:r>
                <a14:m>
                  <m:oMath xmlns:m="http://schemas.openxmlformats.org/officeDocument/2006/math">
                    <m:r>
                      <a:rPr kumimoji="1" lang="en-US" altLang="zh-TW" sz="3800" i="1">
                        <a:latin typeface="Cambria Math"/>
                        <a:ea typeface="標楷體" panose="03000509000000000000" pitchFamily="65" charset="-120"/>
                      </a:rPr>
                      <m:t>=</m:t>
                    </m:r>
                    <m:f>
                      <m:fPr>
                        <m:ctrlPr>
                          <a:rPr kumimoji="1" lang="en-US" altLang="zh-TW" sz="3800" i="1" smtClean="0">
                            <a:latin typeface="Cambria Math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kumimoji="1" lang="en-US" altLang="zh-TW" sz="3800" i="1" smtClean="0">
                                <a:latin typeface="Cambria Math"/>
                                <a:ea typeface="標楷體" panose="03000509000000000000" pitchFamily="65" charset="-120"/>
                              </a:rPr>
                            </m:ctrlPr>
                          </m:barPr>
                          <m:e>
                            <m:r>
                              <a:rPr kumimoji="1" lang="en-US" altLang="zh-TW" sz="3800" b="0" i="1" smtClean="0">
                                <a:latin typeface="Cambria Math"/>
                                <a:ea typeface="標楷體" panose="03000509000000000000" pitchFamily="65" charset="-120"/>
                              </a:rPr>
                              <m:t>𝑈</m:t>
                            </m:r>
                          </m:e>
                        </m:bar>
                        <m:r>
                          <a:rPr kumimoji="1" lang="en-US" altLang="zh-TW" sz="3800" b="0" i="1" smtClean="0">
                            <a:latin typeface="Cambria Math"/>
                            <a:ea typeface="標楷體" panose="03000509000000000000" pitchFamily="65" charset="-120"/>
                          </a:rPr>
                          <m:t>𝑑</m:t>
                        </m:r>
                      </m:num>
                      <m:den>
                        <m:r>
                          <a:rPr kumimoji="1" lang="en-US" altLang="zh-TW" sz="3800" b="0" i="1" smtClean="0">
                            <a:latin typeface="Cambria Math"/>
                            <a:ea typeface="標楷體" panose="03000509000000000000" pitchFamily="65" charset="-120"/>
                          </a:rPr>
                          <m:t>𝑣</m:t>
                        </m:r>
                      </m:den>
                    </m:f>
                    <m:r>
                      <a:rPr kumimoji="1" lang="en-US" altLang="zh-TW" sz="3800" b="0" i="1" smtClean="0">
                        <a:latin typeface="Cambria Math"/>
                        <a:ea typeface="標楷體" panose="03000509000000000000" pitchFamily="65" charset="-120"/>
                      </a:rPr>
                      <m:t>=</m:t>
                    </m:r>
                  </m:oMath>
                </a14:m>
                <a:r>
                  <a:rPr kumimoji="1" lang="en-US" altLang="zh-TW" sz="38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100</a:t>
                </a:r>
                <a:endParaRPr kumimoji="1" lang="en-US" altLang="zh-TW" sz="3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463" y="10277781"/>
                <a:ext cx="4855112" cy="1028551"/>
              </a:xfrm>
              <a:prstGeom prst="rect">
                <a:avLst/>
              </a:prstGeom>
              <a:blipFill rotWithShape="1">
                <a:blip r:embed="rId40"/>
                <a:stretch>
                  <a:fillRect l="-4146" r="-3266" b="-100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 138"/>
          <p:cNvSpPr/>
          <p:nvPr/>
        </p:nvSpPr>
        <p:spPr>
          <a:xfrm>
            <a:off x="24516825" y="13134478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d:</a:t>
            </a:r>
            <a:r>
              <a:rPr kumimoji="1"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圓柱直徑</a:t>
            </a:r>
            <a:endParaRPr kumimoji="1"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9688867" y="12448294"/>
            <a:ext cx="146706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TW" altLang="en-US" sz="25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渦度動畫</a:t>
            </a:r>
            <a:endParaRPr kumimoji="1" lang="en-US" altLang="zh-TW" sz="25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B980658F-6517-9073-DEFC-CF595B2AA3F5}"/>
              </a:ext>
            </a:extLst>
          </p:cNvPr>
          <p:cNvSpPr txBox="1"/>
          <p:nvPr/>
        </p:nvSpPr>
        <p:spPr>
          <a:xfrm>
            <a:off x="-1113051" y="13754410"/>
            <a:ext cx="13355617" cy="5232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來源</a:t>
            </a:r>
            <a:r>
              <a:rPr lang="en-US" altLang="zh-TW" sz="1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https://www.sciencedirect.com/science/article/pii/S0360544217308083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27877277" y="36203805"/>
            <a:ext cx="1484908" cy="1411318"/>
            <a:chOff x="27877277" y="36203805"/>
            <a:chExt cx="1484908" cy="1411318"/>
          </a:xfrm>
        </p:grpSpPr>
        <p:grpSp>
          <p:nvGrpSpPr>
            <p:cNvPr id="14" name="群組 13"/>
            <p:cNvGrpSpPr/>
            <p:nvPr/>
          </p:nvGrpSpPr>
          <p:grpSpPr>
            <a:xfrm rot="451371">
              <a:off x="27877277" y="36203805"/>
              <a:ext cx="1484908" cy="1113759"/>
              <a:chOff x="27886322" y="36247545"/>
              <a:chExt cx="1484908" cy="1113759"/>
            </a:xfrm>
          </p:grpSpPr>
          <p:cxnSp>
            <p:nvCxnSpPr>
              <p:cNvPr id="8" name="直線接點 7"/>
              <p:cNvCxnSpPr/>
              <p:nvPr/>
            </p:nvCxnSpPr>
            <p:spPr>
              <a:xfrm>
                <a:off x="28918120" y="36550020"/>
                <a:ext cx="453110" cy="504784"/>
              </a:xfrm>
              <a:prstGeom prst="line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弧形 8"/>
              <p:cNvSpPr/>
              <p:nvPr/>
            </p:nvSpPr>
            <p:spPr>
              <a:xfrm rot="4157828">
                <a:off x="27881680" y="36252187"/>
                <a:ext cx="1113759" cy="1104476"/>
              </a:xfrm>
              <a:prstGeom prst="arc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矩形 14"/>
            <p:cNvSpPr/>
            <p:nvPr/>
          </p:nvSpPr>
          <p:spPr>
            <a:xfrm rot="1406516">
              <a:off x="28495890" y="37099616"/>
              <a:ext cx="333451" cy="515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3" name="群組 172"/>
          <p:cNvGrpSpPr/>
          <p:nvPr/>
        </p:nvGrpSpPr>
        <p:grpSpPr>
          <a:xfrm rot="18030745">
            <a:off x="27601167" y="36896476"/>
            <a:ext cx="1484908" cy="1411318"/>
            <a:chOff x="27877277" y="36203805"/>
            <a:chExt cx="1484908" cy="1411318"/>
          </a:xfrm>
        </p:grpSpPr>
        <p:grpSp>
          <p:nvGrpSpPr>
            <p:cNvPr id="174" name="群組 173"/>
            <p:cNvGrpSpPr/>
            <p:nvPr/>
          </p:nvGrpSpPr>
          <p:grpSpPr>
            <a:xfrm rot="451371">
              <a:off x="27877277" y="36203805"/>
              <a:ext cx="1484908" cy="1113759"/>
              <a:chOff x="27886322" y="36247545"/>
              <a:chExt cx="1484908" cy="1113759"/>
            </a:xfrm>
          </p:grpSpPr>
          <p:cxnSp>
            <p:nvCxnSpPr>
              <p:cNvPr id="181" name="直線接點 180"/>
              <p:cNvCxnSpPr/>
              <p:nvPr/>
            </p:nvCxnSpPr>
            <p:spPr>
              <a:xfrm>
                <a:off x="28918120" y="36550020"/>
                <a:ext cx="453110" cy="504784"/>
              </a:xfrm>
              <a:prstGeom prst="line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弧形 184"/>
              <p:cNvSpPr/>
              <p:nvPr/>
            </p:nvSpPr>
            <p:spPr>
              <a:xfrm rot="4157828">
                <a:off x="27881680" y="36252187"/>
                <a:ext cx="1113759" cy="1104476"/>
              </a:xfrm>
              <a:prstGeom prst="arc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77" name="矩形 176"/>
            <p:cNvSpPr/>
            <p:nvPr/>
          </p:nvSpPr>
          <p:spPr>
            <a:xfrm rot="1406516">
              <a:off x="28495890" y="37099616"/>
              <a:ext cx="333451" cy="515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6" name="群組 185"/>
          <p:cNvGrpSpPr/>
          <p:nvPr/>
        </p:nvGrpSpPr>
        <p:grpSpPr>
          <a:xfrm rot="13316087">
            <a:off x="28307109" y="37444511"/>
            <a:ext cx="1484908" cy="1411318"/>
            <a:chOff x="27877277" y="36203805"/>
            <a:chExt cx="1484908" cy="1411318"/>
          </a:xfrm>
        </p:grpSpPr>
        <p:grpSp>
          <p:nvGrpSpPr>
            <p:cNvPr id="187" name="群組 186"/>
            <p:cNvGrpSpPr/>
            <p:nvPr/>
          </p:nvGrpSpPr>
          <p:grpSpPr>
            <a:xfrm rot="451371">
              <a:off x="27877277" y="36203805"/>
              <a:ext cx="1484908" cy="1113759"/>
              <a:chOff x="27886322" y="36247545"/>
              <a:chExt cx="1484908" cy="1113759"/>
            </a:xfrm>
          </p:grpSpPr>
          <p:cxnSp>
            <p:nvCxnSpPr>
              <p:cNvPr id="196" name="直線接點 195"/>
              <p:cNvCxnSpPr/>
              <p:nvPr/>
            </p:nvCxnSpPr>
            <p:spPr>
              <a:xfrm>
                <a:off x="28918120" y="36550020"/>
                <a:ext cx="453110" cy="504784"/>
              </a:xfrm>
              <a:prstGeom prst="line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弧形 197"/>
              <p:cNvSpPr/>
              <p:nvPr/>
            </p:nvSpPr>
            <p:spPr>
              <a:xfrm rot="4157828">
                <a:off x="27881680" y="36252187"/>
                <a:ext cx="1113759" cy="1104476"/>
              </a:xfrm>
              <a:prstGeom prst="arc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8" name="矩形 187"/>
            <p:cNvSpPr/>
            <p:nvPr/>
          </p:nvSpPr>
          <p:spPr>
            <a:xfrm rot="1406516">
              <a:off x="28495890" y="37099616"/>
              <a:ext cx="333451" cy="515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9" name="群組 198"/>
          <p:cNvGrpSpPr/>
          <p:nvPr/>
        </p:nvGrpSpPr>
        <p:grpSpPr>
          <a:xfrm rot="9119802">
            <a:off x="29081068" y="36970757"/>
            <a:ext cx="1484908" cy="1411318"/>
            <a:chOff x="27877277" y="36203805"/>
            <a:chExt cx="1484908" cy="1411318"/>
          </a:xfrm>
        </p:grpSpPr>
        <p:grpSp>
          <p:nvGrpSpPr>
            <p:cNvPr id="200" name="群組 199"/>
            <p:cNvGrpSpPr/>
            <p:nvPr/>
          </p:nvGrpSpPr>
          <p:grpSpPr>
            <a:xfrm rot="451371">
              <a:off x="27877277" y="36203805"/>
              <a:ext cx="1484908" cy="1113759"/>
              <a:chOff x="27886322" y="36247545"/>
              <a:chExt cx="1484908" cy="1113759"/>
            </a:xfrm>
          </p:grpSpPr>
          <p:cxnSp>
            <p:nvCxnSpPr>
              <p:cNvPr id="204" name="直線接點 203"/>
              <p:cNvCxnSpPr/>
              <p:nvPr/>
            </p:nvCxnSpPr>
            <p:spPr>
              <a:xfrm>
                <a:off x="28918120" y="36550020"/>
                <a:ext cx="453110" cy="504784"/>
              </a:xfrm>
              <a:prstGeom prst="line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弧形 204"/>
              <p:cNvSpPr/>
              <p:nvPr/>
            </p:nvSpPr>
            <p:spPr>
              <a:xfrm rot="4157828">
                <a:off x="27881680" y="36252187"/>
                <a:ext cx="1113759" cy="1104476"/>
              </a:xfrm>
              <a:prstGeom prst="arc">
                <a:avLst/>
              </a:prstGeom>
              <a:ln w="762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02" name="矩形 201"/>
            <p:cNvSpPr/>
            <p:nvPr/>
          </p:nvSpPr>
          <p:spPr>
            <a:xfrm rot="1406516">
              <a:off x="28495890" y="37099616"/>
              <a:ext cx="333451" cy="515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7" name="群組 206"/>
          <p:cNvGrpSpPr/>
          <p:nvPr/>
        </p:nvGrpSpPr>
        <p:grpSpPr>
          <a:xfrm rot="4630414">
            <a:off x="28873604" y="36248645"/>
            <a:ext cx="1484908" cy="1113759"/>
            <a:chOff x="27886322" y="36247545"/>
            <a:chExt cx="1484908" cy="1113759"/>
          </a:xfrm>
        </p:grpSpPr>
        <p:cxnSp>
          <p:nvCxnSpPr>
            <p:cNvPr id="210" name="直線接點 209"/>
            <p:cNvCxnSpPr/>
            <p:nvPr/>
          </p:nvCxnSpPr>
          <p:spPr>
            <a:xfrm>
              <a:off x="28918120" y="36550020"/>
              <a:ext cx="453110" cy="504784"/>
            </a:xfrm>
            <a:prstGeom prst="line">
              <a:avLst/>
            </a:prstGeom>
            <a:ln w="762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弧形 215"/>
            <p:cNvSpPr/>
            <p:nvPr/>
          </p:nvSpPr>
          <p:spPr>
            <a:xfrm rot="4157828">
              <a:off x="27881680" y="36252187"/>
              <a:ext cx="1113759" cy="1104476"/>
            </a:xfrm>
            <a:prstGeom prst="arc">
              <a:avLst/>
            </a:prstGeom>
            <a:ln w="762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9" name="矩形 208"/>
          <p:cNvSpPr/>
          <p:nvPr/>
        </p:nvSpPr>
        <p:spPr>
          <a:xfrm rot="8374556">
            <a:off x="28995600" y="36959692"/>
            <a:ext cx="333451" cy="515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橢圓 144"/>
          <p:cNvSpPr/>
          <p:nvPr/>
        </p:nvSpPr>
        <p:spPr>
          <a:xfrm rot="19176858" flipH="1">
            <a:off x="28678169" y="37029023"/>
            <a:ext cx="838800" cy="83910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solidFill>
              <a:srgbClr val="00315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8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1032</TotalTime>
  <Words>827</Words>
  <Application>Microsoft Office PowerPoint</Application>
  <PresentationFormat>自訂</PresentationFormat>
  <Paragraphs>132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靖英 張</dc:creator>
  <cp:lastModifiedBy>User</cp:lastModifiedBy>
  <cp:revision>63</cp:revision>
  <dcterms:created xsi:type="dcterms:W3CDTF">2022-12-08T13:04:51Z</dcterms:created>
  <dcterms:modified xsi:type="dcterms:W3CDTF">2022-12-09T19:25:32Z</dcterms:modified>
</cp:coreProperties>
</file>