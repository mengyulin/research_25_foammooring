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40288" cy="42840275"/>
  <p:notesSz cx="6858000" cy="9144000"/>
  <p:defaultTextStyle>
    <a:defPPr>
      <a:defRPr lang="zh-TW"/>
    </a:defPPr>
    <a:lvl1pPr marL="0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11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821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732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643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553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464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374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285" algn="l" defTabSz="350782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蔣崇渝" initials="蔣崇渝" lastIdx="1" clrIdx="0">
    <p:extLst>
      <p:ext uri="{19B8F6BF-5375-455C-9EA6-DF929625EA0E}">
        <p15:presenceInfo xmlns:p15="http://schemas.microsoft.com/office/powerpoint/2012/main" userId="6170b2963308b8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4D78"/>
    <a:srgbClr val="1F4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 autoAdjust="0"/>
    <p:restoredTop sz="94660"/>
  </p:normalViewPr>
  <p:slideViewPr>
    <p:cSldViewPr snapToGrid="0">
      <p:cViewPr>
        <p:scale>
          <a:sx n="37" d="100"/>
          <a:sy n="37" d="100"/>
        </p:scale>
        <p:origin x="714" y="-3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11132"/>
            <a:ext cx="25704245" cy="14914762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501064"/>
            <a:ext cx="22680216" cy="10343147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47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8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80331"/>
            <a:ext cx="26082248" cy="17820361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69280"/>
            <a:ext cx="26082248" cy="9371307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92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404240"/>
            <a:ext cx="12852122" cy="2718176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404240"/>
            <a:ext cx="12852122" cy="2718176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2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80857"/>
            <a:ext cx="26082248" cy="82804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501820"/>
            <a:ext cx="12793057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48601"/>
            <a:ext cx="12793057" cy="2301673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501820"/>
            <a:ext cx="12856061" cy="514678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48601"/>
            <a:ext cx="12856061" cy="2301673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19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6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973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68216"/>
            <a:ext cx="15309146" cy="30444362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640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6018"/>
            <a:ext cx="9753280" cy="999606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68216"/>
            <a:ext cx="15309146" cy="30444362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52082"/>
            <a:ext cx="9753280" cy="23810073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532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03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80848"/>
            <a:ext cx="6520562" cy="3630515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80848"/>
            <a:ext cx="19183683" cy="3630515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30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80857"/>
            <a:ext cx="26082248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404240"/>
            <a:ext cx="26082248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C7391-4C82-43F4-8DA1-C0827773E094}" type="datetimeFigureOut">
              <a:rPr lang="zh-TW" altLang="en-US" smtClean="0"/>
              <a:t>2022/12/10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706598"/>
            <a:ext cx="10206097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706598"/>
            <a:ext cx="6804065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4C45-43A4-4B26-B4E4-B05FE989FC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53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766755" y="1639032"/>
            <a:ext cx="24706778" cy="2361468"/>
          </a:xfrm>
        </p:spPr>
        <p:txBody>
          <a:bodyPr>
            <a:normAutofit fontScale="90000"/>
          </a:bodyPr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0240288" cy="4085356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539783" y="1174719"/>
            <a:ext cx="136384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題目</a:t>
            </a:r>
            <a:r>
              <a:rPr lang="en-US" altLang="zh-TW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極端降雨引致淡水河流域淹水之模擬</a:t>
            </a:r>
            <a:endParaRPr lang="en-US" altLang="zh-TW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39783" y="3148365"/>
            <a:ext cx="13638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組員</a:t>
            </a:r>
            <a:r>
              <a:rPr lang="en-US" altLang="zh-TW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江承庭 蘇柏聿 陳彥銘 蘇建元 鄭心煜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4539783" y="75499"/>
            <a:ext cx="186939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111-1</a:t>
            </a:r>
            <a:r>
              <a:rPr lang="zh-TW" altLang="en-US" sz="8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中原土木系實務專題競賽成果海報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4539783" y="1852262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指導老師</a:t>
            </a:r>
            <a:r>
              <a:rPr lang="en-US" altLang="zh-TW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林孟郁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4539783" y="2512876"/>
            <a:ext cx="4185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組別</a:t>
            </a:r>
            <a:r>
              <a:rPr lang="en-US" altLang="zh-TW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防災類</a:t>
            </a:r>
            <a:r>
              <a:rPr lang="en-US" altLang="zh-TW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-I</a:t>
            </a:r>
            <a:endParaRPr lang="zh-TW" altLang="en-US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-11811000" y="3552732"/>
            <a:ext cx="184731" cy="1154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4397" y="29244039"/>
            <a:ext cx="7700641" cy="1142989"/>
          </a:xfrm>
          <a:prstGeom prst="rect">
            <a:avLst/>
          </a:prstGeom>
          <a:solidFill>
            <a:srgbClr val="1F4E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歷年降雨趨勢展示</a:t>
            </a:r>
          </a:p>
        </p:txBody>
      </p:sp>
      <p:sp>
        <p:nvSpPr>
          <p:cNvPr id="20" name="矩形 19"/>
          <p:cNvSpPr/>
          <p:nvPr/>
        </p:nvSpPr>
        <p:spPr>
          <a:xfrm>
            <a:off x="146501" y="4357882"/>
            <a:ext cx="6963433" cy="1076361"/>
          </a:xfrm>
          <a:prstGeom prst="rect">
            <a:avLst/>
          </a:prstGeom>
          <a:solidFill>
            <a:srgbClr val="1F4E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研究目的與方法</a:t>
            </a:r>
          </a:p>
        </p:txBody>
      </p:sp>
      <p:sp>
        <p:nvSpPr>
          <p:cNvPr id="21" name="矩形 20"/>
          <p:cNvSpPr/>
          <p:nvPr/>
        </p:nvSpPr>
        <p:spPr>
          <a:xfrm>
            <a:off x="106341" y="13543723"/>
            <a:ext cx="4062438" cy="1082934"/>
          </a:xfrm>
          <a:prstGeom prst="rect">
            <a:avLst/>
          </a:prstGeom>
          <a:solidFill>
            <a:srgbClr val="1F4E78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研究區域</a:t>
            </a:r>
          </a:p>
        </p:txBody>
      </p:sp>
      <p:sp>
        <p:nvSpPr>
          <p:cNvPr id="22" name="橢圓 21"/>
          <p:cNvSpPr/>
          <p:nvPr/>
        </p:nvSpPr>
        <p:spPr>
          <a:xfrm>
            <a:off x="27146250" y="1398938"/>
            <a:ext cx="533400" cy="606778"/>
          </a:xfrm>
          <a:prstGeom prst="ellipse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21401266" y="-583684"/>
            <a:ext cx="21802763" cy="457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sz="4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教育部高教深耕補助計畫</a:t>
            </a:r>
            <a:endParaRPr lang="zh-TW" altLang="en-US" sz="60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指導單位 </a:t>
            </a:r>
            <a:r>
              <a:rPr lang="en-US" altLang="zh-TW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教育部</a:t>
            </a:r>
            <a:r>
              <a:rPr lang="en-US" altLang="zh-TW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高等教育深耕計畫</a:t>
            </a:r>
            <a:r>
              <a:rPr lang="en-US" altLang="zh-TW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</a:p>
          <a:p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主辦單位 </a:t>
            </a:r>
            <a:r>
              <a:rPr lang="en-US" altLang="zh-TW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中原大學工學院 </a:t>
            </a:r>
            <a:endParaRPr lang="en-US" altLang="zh-TW" sz="35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協辦單位 </a:t>
            </a:r>
            <a:r>
              <a:rPr lang="en-US" altLang="zh-TW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3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中原大學研發處競爭力發展中心 </a:t>
            </a:r>
          </a:p>
        </p:txBody>
      </p:sp>
      <p:sp>
        <p:nvSpPr>
          <p:cNvPr id="31" name="矩形 30"/>
          <p:cNvSpPr/>
          <p:nvPr/>
        </p:nvSpPr>
        <p:spPr>
          <a:xfrm>
            <a:off x="106340" y="37824150"/>
            <a:ext cx="2974643" cy="1113863"/>
          </a:xfrm>
          <a:prstGeom prst="rect">
            <a:avLst/>
          </a:prstGeom>
          <a:solidFill>
            <a:srgbClr val="224D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結論</a:t>
            </a:r>
          </a:p>
        </p:txBody>
      </p:sp>
      <p:sp>
        <p:nvSpPr>
          <p:cNvPr id="32" name="矩形 31"/>
          <p:cNvSpPr/>
          <p:nvPr/>
        </p:nvSpPr>
        <p:spPr>
          <a:xfrm>
            <a:off x="15120144" y="20752826"/>
            <a:ext cx="8392971" cy="1214204"/>
          </a:xfrm>
          <a:prstGeom prst="rect">
            <a:avLst/>
          </a:prstGeom>
          <a:solidFill>
            <a:srgbClr val="224D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淹水模擬成果展示</a:t>
            </a:r>
          </a:p>
        </p:txBody>
      </p:sp>
      <p:sp>
        <p:nvSpPr>
          <p:cNvPr id="35" name="矩形 34"/>
          <p:cNvSpPr/>
          <p:nvPr/>
        </p:nvSpPr>
        <p:spPr>
          <a:xfrm>
            <a:off x="15120144" y="4515614"/>
            <a:ext cx="6647656" cy="1144030"/>
          </a:xfrm>
          <a:prstGeom prst="rect">
            <a:avLst/>
          </a:prstGeom>
          <a:solidFill>
            <a:srgbClr val="1F4E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降雨延時組體圖</a:t>
            </a:r>
          </a:p>
        </p:txBody>
      </p:sp>
      <p:sp>
        <p:nvSpPr>
          <p:cNvPr id="57" name="文字方塊 56"/>
          <p:cNvSpPr txBox="1"/>
          <p:nvPr/>
        </p:nvSpPr>
        <p:spPr>
          <a:xfrm>
            <a:off x="15641103" y="19454310"/>
            <a:ext cx="5805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淡水雨量測站重現期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、</a:t>
            </a:r>
            <a:r>
              <a:rPr lang="en-US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24</a:t>
            </a:r>
            <a:r>
              <a:rPr lang="zh-TW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、</a:t>
            </a:r>
            <a:r>
              <a:rPr lang="en-US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48</a:t>
            </a:r>
            <a:r>
              <a:rPr lang="zh-TW" altLang="en-US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小時延時降雨</a:t>
            </a:r>
            <a:endParaRPr lang="zh-TW" altLang="en-US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5937688" y="26207894"/>
            <a:ext cx="6349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蘇迪勒颱風實際災害圖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9" name="圖片 8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67" y="104619"/>
            <a:ext cx="3899650" cy="389965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F96EAB04-68A7-78B8-AB5F-3E68DDED6D69}"/>
              </a:ext>
            </a:extLst>
          </p:cNvPr>
          <p:cNvSpPr/>
          <p:nvPr/>
        </p:nvSpPr>
        <p:spPr>
          <a:xfrm>
            <a:off x="84398" y="5614131"/>
            <a:ext cx="14420533" cy="79447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 algn="just">
              <a:lnSpc>
                <a:spcPts val="568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本專題研究目的為淡水河流域之降雨</a:t>
            </a:r>
            <a:r>
              <a:rPr lang="en-US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逕流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淹水之模擬。</a:t>
            </a:r>
            <a:endParaRPr lang="en-US" altLang="zh-TW" sz="36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ts val="568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</a:t>
            </a: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中央氣象局在淡水河流域中之雨量測站，考慮空間分佈因素</a:t>
            </a: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資料數據的完善</a:t>
            </a: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</a:t>
            </a: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，選擇其中的</a:t>
            </a:r>
            <a:r>
              <a:rPr lang="en-US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zh-TW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個測站</a:t>
            </a: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36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ts val="568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由中央氣象局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觀測資料查詢系統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V7.2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獲取降雨紀錄</a:t>
            </a:r>
            <a:r>
              <a:rPr lang="zh-TW" altLang="en-US" sz="3600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，並利用五年移動平均法判讀長期變化趨勢。</a:t>
            </a:r>
            <a:endParaRPr lang="en-US" altLang="zh-TW" sz="3600" b="0" i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ts val="568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設計</a:t>
            </a:r>
            <a:r>
              <a:rPr lang="zh-TW" altLang="en-US" sz="3600" b="0" i="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降雨部分則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Horner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公式進行水文分析，參數來源為水利署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台灣地區雨量測站降雨強度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延時</a:t>
            </a:r>
            <a:r>
              <a:rPr lang="en-US" altLang="zh-TW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Horner</a:t>
            </a:r>
            <a:r>
              <a:rPr lang="zh-TW" altLang="en-US" sz="3600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公式參數分析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ts val="568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淹水模擬</a:t>
            </a:r>
            <a:r>
              <a:rPr lang="zh-TW" altLang="en-US" sz="3600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則是利用 </a:t>
            </a:r>
            <a:r>
              <a:rPr lang="en-US" altLang="zh-TW" sz="3600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Rainfall - Runoff - Inundation (RRI) Model </a:t>
            </a:r>
            <a:r>
              <a:rPr lang="zh-TW" altLang="en-US" sz="3600" b="0" i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降雨逕流淹水模式。以蘇迪勒颱風強降雨事件進行模式驗證，並利用設計之雨型資料，進行未來可能的淹水情況模擬，以探討未來氣候變化。</a:t>
            </a:r>
            <a:endParaRPr lang="zh-TW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5" name="图片 61" descr="756157964791154059">
            <a:extLst>
              <a:ext uri="{FF2B5EF4-FFF2-40B4-BE49-F238E27FC236}">
                <a16:creationId xmlns:a16="http://schemas.microsoft.com/office/drawing/2014/main" id="{2C5334EE-8BE0-7EDC-FC1C-D1550525C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01" y="30910975"/>
            <a:ext cx="6920345" cy="5829205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645109D0-2C20-2381-5980-F4A05A3055B7}"/>
              </a:ext>
            </a:extLst>
          </p:cNvPr>
          <p:cNvSpPr/>
          <p:nvPr/>
        </p:nvSpPr>
        <p:spPr>
          <a:xfrm>
            <a:off x="786242" y="36687535"/>
            <a:ext cx="1434846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在此歷年資料中，</a:t>
            </a:r>
            <a:endParaRPr lang="en-US" altLang="zh-TW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可以比較出降雨量有日漸增多的趨勢</a:t>
            </a:r>
          </a:p>
        </p:txBody>
      </p:sp>
      <p:pic>
        <p:nvPicPr>
          <p:cNvPr id="59" name="图片 62" descr="851739427231379256">
            <a:extLst>
              <a:ext uri="{FF2B5EF4-FFF2-40B4-BE49-F238E27FC236}">
                <a16:creationId xmlns:a16="http://schemas.microsoft.com/office/drawing/2014/main" id="{F3DE2A64-5362-95AE-F674-080EEE05E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846" y="30434463"/>
            <a:ext cx="7705175" cy="5997402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0002B331-4EB7-6CF7-A205-21C5EB64A56B}"/>
              </a:ext>
            </a:extLst>
          </p:cNvPr>
          <p:cNvSpPr/>
          <p:nvPr/>
        </p:nvSpPr>
        <p:spPr>
          <a:xfrm flipH="1">
            <a:off x="122528" y="39330082"/>
            <a:ext cx="30133949" cy="27322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>
              <a:lnSpc>
                <a:spcPts val="626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本研究利用降雨趨勢計算以及淹水模擬，探討氣候變遷對於極端降雨事件的降雨發展趨勢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685800" indent="-685800">
              <a:lnSpc>
                <a:spcPts val="626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降雨趨勢方面，</a:t>
            </a:r>
            <a:r>
              <a:rPr lang="zh-TW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藉由移動平均法，分析近年來雨量站年雨量的變化趨勢，可以看出多數測站之雨量有漸漸增加的趨勢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685800" indent="-685800">
              <a:lnSpc>
                <a:spcPts val="626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sz="36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淹水趨勢方面，</a:t>
            </a:r>
            <a:r>
              <a:rPr lang="zh-TW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由淹水模擬成果展示看出，當降雨延時增加，淹水的深度也隨之提升，淹水的範圍以及影響也會呈現上升的趨勢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36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7065F130-C762-BD3F-9F32-E9DE25056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734375"/>
              </p:ext>
            </p:extLst>
          </p:nvPr>
        </p:nvGraphicFramePr>
        <p:xfrm>
          <a:off x="122528" y="23427682"/>
          <a:ext cx="14915440" cy="5620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7863">
                  <a:extLst>
                    <a:ext uri="{9D8B030D-6E8A-4147-A177-3AD203B41FA5}">
                      <a16:colId xmlns:a16="http://schemas.microsoft.com/office/drawing/2014/main" val="2248247756"/>
                    </a:ext>
                  </a:extLst>
                </a:gridCol>
                <a:gridCol w="2737863">
                  <a:extLst>
                    <a:ext uri="{9D8B030D-6E8A-4147-A177-3AD203B41FA5}">
                      <a16:colId xmlns:a16="http://schemas.microsoft.com/office/drawing/2014/main" val="109165704"/>
                    </a:ext>
                  </a:extLst>
                </a:gridCol>
                <a:gridCol w="2737863">
                  <a:extLst>
                    <a:ext uri="{9D8B030D-6E8A-4147-A177-3AD203B41FA5}">
                      <a16:colId xmlns:a16="http://schemas.microsoft.com/office/drawing/2014/main" val="3271389749"/>
                    </a:ext>
                  </a:extLst>
                </a:gridCol>
                <a:gridCol w="2737863">
                  <a:extLst>
                    <a:ext uri="{9D8B030D-6E8A-4147-A177-3AD203B41FA5}">
                      <a16:colId xmlns:a16="http://schemas.microsoft.com/office/drawing/2014/main" val="4133213391"/>
                    </a:ext>
                  </a:extLst>
                </a:gridCol>
                <a:gridCol w="2737863">
                  <a:extLst>
                    <a:ext uri="{9D8B030D-6E8A-4147-A177-3AD203B41FA5}">
                      <a16:colId xmlns:a16="http://schemas.microsoft.com/office/drawing/2014/main" val="1821327485"/>
                    </a:ext>
                  </a:extLst>
                </a:gridCol>
                <a:gridCol w="1226125">
                  <a:extLst>
                    <a:ext uri="{9D8B030D-6E8A-4147-A177-3AD203B41FA5}">
                      <a16:colId xmlns:a16="http://schemas.microsoft.com/office/drawing/2014/main" val="1643530350"/>
                    </a:ext>
                  </a:extLst>
                </a:gridCol>
              </a:tblGrid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站號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站名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海拔高度</a:t>
                      </a:r>
                      <a:r>
                        <a:rPr lang="en-US" sz="1200" kern="0">
                          <a:effectLst/>
                        </a:rPr>
                        <a:t>(m)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經度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 dirty="0">
                          <a:effectLst/>
                        </a:rPr>
                        <a:t>緯度</a:t>
                      </a:r>
                      <a:endParaRPr lang="zh-TW" sz="105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所在縣市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3975619010"/>
                  </a:ext>
                </a:extLst>
              </a:tr>
              <a:tr h="672284">
                <a:tc>
                  <a:txBody>
                    <a:bodyPr/>
                    <a:lstStyle/>
                    <a:p>
                      <a:pPr algn="ctr"/>
                      <a:r>
                        <a:rPr lang="en-US" sz="1350" kern="100">
                          <a:effectLst/>
                        </a:rPr>
                        <a:t>466900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kern="100">
                          <a:effectLst/>
                        </a:rPr>
                        <a:t>淡水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kern="100">
                          <a:effectLst/>
                        </a:rPr>
                        <a:t>19.0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kern="100">
                          <a:effectLst/>
                        </a:rPr>
                        <a:t>121.448906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kern="100">
                          <a:effectLst/>
                        </a:rPr>
                        <a:t>25.164889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kern="100">
                          <a:effectLst/>
                        </a:rPr>
                        <a:t>新北市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315612953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466920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台北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5.3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121.514853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25.03765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台北市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2637278733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C0C460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復興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482.0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121.352281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24.820208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桃園市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144526138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C0A560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福山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405.0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121.502811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24.776203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新北市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2841473707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C0A640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石碇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241.0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121.662917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24.993969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 dirty="0">
                          <a:effectLst/>
                        </a:rPr>
                        <a:t>新北市</a:t>
                      </a:r>
                      <a:endParaRPr lang="zh-TW" sz="105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3146659303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C0A660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瑞芳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97.0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121.801147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25.113169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新北市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2995360752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C1D400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鳥嘴山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839.0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121.283870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24.719090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新竹縣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2721619293"/>
                  </a:ext>
                </a:extLst>
              </a:tr>
              <a:tr h="618500"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C0AC6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>
                          <a:effectLst/>
                        </a:rPr>
                        <a:t>三峽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 dirty="0">
                          <a:effectLst/>
                        </a:rPr>
                        <a:t>55.0</a:t>
                      </a:r>
                      <a:endParaRPr lang="zh-TW" sz="105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>
                          <a:effectLst/>
                        </a:rPr>
                        <a:t>121.369728</a:t>
                      </a:r>
                      <a:endParaRPr lang="zh-TW" sz="1050" kern="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0" dirty="0">
                          <a:effectLst/>
                        </a:rPr>
                        <a:t>24.939025</a:t>
                      </a:r>
                      <a:endParaRPr lang="zh-TW" sz="105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kern="0" dirty="0">
                          <a:effectLst/>
                        </a:rPr>
                        <a:t>新北市</a:t>
                      </a:r>
                      <a:endParaRPr lang="zh-TW" sz="1050" kern="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Cordia New" panose="020B0304020202020204" pitchFamily="34" charset="-34"/>
                      </a:endParaRPr>
                    </a:p>
                  </a:txBody>
                  <a:tcPr marL="40005" marR="40005" marT="40005" marB="40005" anchor="ctr"/>
                </a:tc>
                <a:extLst>
                  <a:ext uri="{0D108BD9-81ED-4DB2-BD59-A6C34878D82A}">
                    <a16:rowId xmlns:a16="http://schemas.microsoft.com/office/drawing/2014/main" val="3657350373"/>
                  </a:ext>
                </a:extLst>
              </a:tr>
            </a:tbl>
          </a:graphicData>
        </a:graphic>
      </p:graphicFrame>
      <p:sp>
        <p:nvSpPr>
          <p:cNvPr id="70" name="矩形 69">
            <a:extLst>
              <a:ext uri="{FF2B5EF4-FFF2-40B4-BE49-F238E27FC236}">
                <a16:creationId xmlns:a16="http://schemas.microsoft.com/office/drawing/2014/main" id="{0C8A01EA-1957-0EC1-F605-9A817D05E23D}"/>
              </a:ext>
            </a:extLst>
          </p:cNvPr>
          <p:cNvSpPr/>
          <p:nvPr/>
        </p:nvSpPr>
        <p:spPr>
          <a:xfrm>
            <a:off x="84398" y="22184015"/>
            <a:ext cx="7700641" cy="1142989"/>
          </a:xfrm>
          <a:prstGeom prst="rect">
            <a:avLst/>
          </a:prstGeom>
          <a:solidFill>
            <a:srgbClr val="1F4E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選定雨量測站展示</a:t>
            </a:r>
          </a:p>
        </p:txBody>
      </p:sp>
      <p:pic>
        <p:nvPicPr>
          <p:cNvPr id="75" name="图片 63" descr="413277697431047038">
            <a:extLst>
              <a:ext uri="{FF2B5EF4-FFF2-40B4-BE49-F238E27FC236}">
                <a16:creationId xmlns:a16="http://schemas.microsoft.com/office/drawing/2014/main" id="{38129937-F6B9-298F-228E-44691C683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4704" y="5679597"/>
            <a:ext cx="6312132" cy="4151309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0834D3ED-76B9-41F5-8C46-83B1F9C32147}"/>
              </a:ext>
            </a:extLst>
          </p:cNvPr>
          <p:cNvSpPr/>
          <p:nvPr/>
        </p:nvSpPr>
        <p:spPr>
          <a:xfrm>
            <a:off x="22335659" y="19442190"/>
            <a:ext cx="6417141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淡水雨量測站重現期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200</a:t>
            </a: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、</a:t>
            </a:r>
            <a:r>
              <a:rPr lang="en-US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24</a:t>
            </a:r>
            <a:r>
              <a:rPr lang="zh-TW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、</a:t>
            </a:r>
            <a:r>
              <a:rPr lang="en-US" altLang="zh-TW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48</a:t>
            </a:r>
            <a:r>
              <a:rPr lang="zh-TW" altLang="en-US" sz="3200" b="1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Cordia New" panose="020B0304020202020204" pitchFamily="34" charset="-34"/>
              </a:rPr>
              <a:t>小時延時降雨</a:t>
            </a:r>
            <a:endParaRPr lang="zh-TW" altLang="en-US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8" name="图片 64" descr="592207053476766215">
            <a:extLst>
              <a:ext uri="{FF2B5EF4-FFF2-40B4-BE49-F238E27FC236}">
                <a16:creationId xmlns:a16="http://schemas.microsoft.com/office/drawing/2014/main" id="{3481C7F9-67D4-57C8-BD43-A851947C34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0144" y="10186283"/>
            <a:ext cx="6312132" cy="4311058"/>
          </a:xfrm>
          <a:prstGeom prst="rect">
            <a:avLst/>
          </a:prstGeom>
        </p:spPr>
      </p:pic>
      <p:pic>
        <p:nvPicPr>
          <p:cNvPr id="79" name="图片 65" descr="599375000944100604">
            <a:extLst>
              <a:ext uri="{FF2B5EF4-FFF2-40B4-BE49-F238E27FC236}">
                <a16:creationId xmlns:a16="http://schemas.microsoft.com/office/drawing/2014/main" id="{73C3DA22-A15B-B9DB-81F6-21A88B1C2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34704" y="14687376"/>
            <a:ext cx="5904836" cy="4410237"/>
          </a:xfrm>
          <a:prstGeom prst="rect">
            <a:avLst/>
          </a:prstGeom>
        </p:spPr>
      </p:pic>
      <p:pic>
        <p:nvPicPr>
          <p:cNvPr id="81" name="图片 67" descr="579404190466723006">
            <a:extLst>
              <a:ext uri="{FF2B5EF4-FFF2-40B4-BE49-F238E27FC236}">
                <a16:creationId xmlns:a16="http://schemas.microsoft.com/office/drawing/2014/main" id="{9CE48C80-7271-D9C5-214F-122C088E6A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67800" y="5724388"/>
            <a:ext cx="6417140" cy="4138099"/>
          </a:xfrm>
          <a:prstGeom prst="rect">
            <a:avLst/>
          </a:prstGeom>
        </p:spPr>
      </p:pic>
      <p:pic>
        <p:nvPicPr>
          <p:cNvPr id="82" name="图片 68" descr="9138374403191658">
            <a:extLst>
              <a:ext uri="{FF2B5EF4-FFF2-40B4-BE49-F238E27FC236}">
                <a16:creationId xmlns:a16="http://schemas.microsoft.com/office/drawing/2014/main" id="{EFFA714E-9A68-8136-6E9B-9045B8CF81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67800" y="10185645"/>
            <a:ext cx="6417140" cy="4311695"/>
          </a:xfrm>
          <a:prstGeom prst="rect">
            <a:avLst/>
          </a:prstGeom>
        </p:spPr>
      </p:pic>
      <p:pic>
        <p:nvPicPr>
          <p:cNvPr id="84" name="图片 69" descr="453380837603529715">
            <a:extLst>
              <a:ext uri="{FF2B5EF4-FFF2-40B4-BE49-F238E27FC236}">
                <a16:creationId xmlns:a16="http://schemas.microsoft.com/office/drawing/2014/main" id="{2D1B0D0E-0E8C-2AAE-CCDA-8B3026FFEE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7799" y="14620023"/>
            <a:ext cx="6417140" cy="441023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3BDB30D-039F-85B4-3BC0-9359D3F3D2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6" y="14757165"/>
            <a:ext cx="7700641" cy="650247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84E60F7-D7AF-5A8E-D1CF-A79181ED0619}"/>
              </a:ext>
            </a:extLst>
          </p:cNvPr>
          <p:cNvSpPr/>
          <p:nvPr/>
        </p:nvSpPr>
        <p:spPr>
          <a:xfrm>
            <a:off x="1937078" y="21428288"/>
            <a:ext cx="30572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淡水河流域範圍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B8088A0-DAC6-3E3F-CE55-C5AD309499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697" y="4142971"/>
            <a:ext cx="3810000" cy="104775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00EEE0BD-433A-7CD5-425B-78BB7D9C15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908" y="14757165"/>
            <a:ext cx="7185898" cy="6488338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F381F8D4-1BDB-01DE-1797-EAAD69588E2E}"/>
              </a:ext>
            </a:extLst>
          </p:cNvPr>
          <p:cNvSpPr/>
          <p:nvPr/>
        </p:nvSpPr>
        <p:spPr>
          <a:xfrm>
            <a:off x="7983377" y="21512171"/>
            <a:ext cx="678864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淡水河流域與雨量站疊合圖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EB4192E-770F-4765-ABB1-09E08CB25B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20143" y="21943488"/>
            <a:ext cx="6938099" cy="4245473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0272AB81-8809-02FD-E194-A2C67050F54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062663" y="21975122"/>
            <a:ext cx="6669310" cy="4245473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4AE2F881-7D80-0B71-FC5A-D271B259BA5D}"/>
              </a:ext>
            </a:extLst>
          </p:cNvPr>
          <p:cNvSpPr/>
          <p:nvPr/>
        </p:nvSpPr>
        <p:spPr>
          <a:xfrm>
            <a:off x="21803412" y="26207894"/>
            <a:ext cx="694938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淹水模擬圖與實際災害圖疊合</a:t>
            </a:r>
            <a:endParaRPr lang="en-US" altLang="zh-TW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D1F0C8-6FE8-8573-7BF0-997C861C92C5}"/>
              </a:ext>
            </a:extLst>
          </p:cNvPr>
          <p:cNvSpPr/>
          <p:nvPr/>
        </p:nvSpPr>
        <p:spPr>
          <a:xfrm>
            <a:off x="13586526" y="21952228"/>
            <a:ext cx="722836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圖片來源</a:t>
            </a:r>
            <a:r>
              <a:rPr lang="en-US" altLang="zh-TW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:2015</a:t>
            </a:r>
            <a:r>
              <a:rPr lang="zh-TW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年蘇迪勒颱風</a:t>
            </a:r>
            <a:endParaRPr lang="en-US" altLang="zh-TW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災害調查彙整報告</a:t>
            </a:r>
            <a:endParaRPr lang="zh-TW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A420E84-8B91-E9AA-669F-84F20265707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142" y="26819463"/>
            <a:ext cx="6281123" cy="316841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3D5FE56-9640-C054-6A1A-286EAC3A7D63}"/>
              </a:ext>
            </a:extLst>
          </p:cNvPr>
          <p:cNvSpPr/>
          <p:nvPr/>
        </p:nvSpPr>
        <p:spPr>
          <a:xfrm>
            <a:off x="15456274" y="29889492"/>
            <a:ext cx="572464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重現期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小時延時模擬圖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273FBC87-8D43-B32D-6C91-1DC86773242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7544" y="26795393"/>
            <a:ext cx="6281123" cy="3125206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A7850074-D74B-7D79-6349-55DDF70AC6F2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4704" y="30705702"/>
            <a:ext cx="6172082" cy="3127959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00E295EB-B8C3-1D4C-CEB7-A2C1FE83251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7545" y="30665086"/>
            <a:ext cx="6281122" cy="3169967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538E7E0A-889A-F663-8BA4-5ADAA02D76C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183" y="34459685"/>
            <a:ext cx="6281123" cy="3191024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ED9F7F6A-BC4C-D7D6-EA09-3A66B28D1CFC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2663" y="34515983"/>
            <a:ext cx="6172081" cy="3134726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87CB9C-31BD-05B5-E57F-79FDC2FEEFB8}"/>
              </a:ext>
            </a:extLst>
          </p:cNvPr>
          <p:cNvSpPr txBox="1"/>
          <p:nvPr/>
        </p:nvSpPr>
        <p:spPr>
          <a:xfrm>
            <a:off x="4536084" y="33740213"/>
            <a:ext cx="27509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重現期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小時延時模擬圖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40102845-05A1-C408-C772-45737CEF4980}"/>
              </a:ext>
            </a:extLst>
          </p:cNvPr>
          <p:cNvSpPr txBox="1"/>
          <p:nvPr/>
        </p:nvSpPr>
        <p:spPr>
          <a:xfrm>
            <a:off x="4466058" y="37690457"/>
            <a:ext cx="27509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重現期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48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小時延時模擬圖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47F5D3D-53BE-5A1A-0287-13EC3CADA22B}"/>
              </a:ext>
            </a:extLst>
          </p:cNvPr>
          <p:cNvSpPr txBox="1"/>
          <p:nvPr/>
        </p:nvSpPr>
        <p:spPr>
          <a:xfrm>
            <a:off x="11617736" y="29902835"/>
            <a:ext cx="27509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重現期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200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小時延時模擬圖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83E4166-EB67-F042-56C5-C5F0860E0C08}"/>
              </a:ext>
            </a:extLst>
          </p:cNvPr>
          <p:cNvSpPr/>
          <p:nvPr/>
        </p:nvSpPr>
        <p:spPr>
          <a:xfrm>
            <a:off x="22510100" y="33740213"/>
            <a:ext cx="572464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重現期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200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小時延時模擬圖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6B7E635-D439-9A12-DFE9-5823138166DC}"/>
              </a:ext>
            </a:extLst>
          </p:cNvPr>
          <p:cNvSpPr txBox="1"/>
          <p:nvPr/>
        </p:nvSpPr>
        <p:spPr>
          <a:xfrm>
            <a:off x="11523419" y="37690457"/>
            <a:ext cx="27509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重現期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200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48</a:t>
            </a:r>
            <a:r>
              <a:rPr lang="zh-TW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小時延時模擬圖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070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10509</TotalTime>
  <Words>582</Words>
  <Application>Microsoft Office PowerPoint</Application>
  <PresentationFormat>自訂</PresentationFormat>
  <Paragraphs>98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蔣崇渝</dc:creator>
  <cp:lastModifiedBy>Wanrong</cp:lastModifiedBy>
  <cp:revision>93</cp:revision>
  <dcterms:created xsi:type="dcterms:W3CDTF">2022-11-30T03:18:49Z</dcterms:created>
  <dcterms:modified xsi:type="dcterms:W3CDTF">2022-12-10T01:52:34Z</dcterms:modified>
</cp:coreProperties>
</file>